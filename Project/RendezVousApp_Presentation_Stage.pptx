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20" y="1188720"/>
            <a:ext cx="886968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0" y="1188720"/>
            <a:ext cx="886968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0" y="5504688"/>
            <a:ext cx="8869680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0" y="1188720"/>
            <a:ext cx="73152" cy="4389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442448" y="1188720"/>
            <a:ext cx="73152" cy="438912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13360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 dirty="0" err="1">
                <a:solidFill>
                  <a:srgbClr val="FFFFFF"/>
                </a:solidFill>
              </a:rPr>
              <a:t>RendezVous</a:t>
            </a:r>
            <a:r>
              <a:rPr sz="4600" b="1" i="0" dirty="0">
                <a:solidFill>
                  <a:srgbClr val="FFFFFF"/>
                </a:solidFill>
              </a:rPr>
              <a:t>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337560"/>
            <a:ext cx="576072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66360" y="3337560"/>
            <a:ext cx="1828800" cy="4572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34747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86FC"/>
                </a:solidFill>
              </a:rPr>
              <a:t>Système de Gestion des Rendez-Vous Médicaux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690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2BF"/>
                </a:solidFill>
              </a:rPr>
              <a:t>React  ·  Laravel 12  ·  Redux  ·  TailwindCSS  ·  Sanctum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26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0C0"/>
                </a:solidFill>
              </a:rPr>
              <a:t>Rapport de Stage — Développement Web Full-Stack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83480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F3C623"/>
                </a:solidFill>
              </a:rPr>
              <a:t>Réalisé</a:t>
            </a:r>
            <a:r>
              <a:rPr sz="1100" b="0" i="0" dirty="0">
                <a:solidFill>
                  <a:srgbClr val="F3C623"/>
                </a:solidFill>
              </a:rPr>
              <a:t> par : Milad </a:t>
            </a:r>
            <a:r>
              <a:rPr lang="en-US" sz="1100" b="0" i="0" dirty="0">
                <a:solidFill>
                  <a:srgbClr val="F3C623"/>
                </a:solidFill>
              </a:rPr>
              <a:t>Dlou</a:t>
            </a:r>
            <a:r>
              <a:rPr sz="1100" b="0" i="0" dirty="0">
                <a:solidFill>
                  <a:srgbClr val="F3C623"/>
                </a:solidFill>
              </a:rPr>
              <a:t>     |     Année 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1828800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76272" y="91440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B59B6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6642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4864" cy="822960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600200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2B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6642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Présentation du Projet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50592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450592"/>
            <a:ext cx="54864" cy="82296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587752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384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651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450592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450592"/>
            <a:ext cx="54864" cy="82296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2587752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C623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651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Stack Technologique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38144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438144"/>
            <a:ext cx="54864" cy="82296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575304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6027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76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639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438144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3438144"/>
            <a:ext cx="54864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46520" y="3575304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36027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639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Base de Données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425696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4425696"/>
            <a:ext cx="54864" cy="8229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4562856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5902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86FC"/>
                </a:solidFill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62686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Sécurité &amp; Auth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425696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4425696"/>
            <a:ext cx="54864" cy="822960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46520" y="4562856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45902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2BF"/>
                </a:solidFill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462686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API RESTful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13248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65760" y="5413248"/>
            <a:ext cx="54864" cy="82296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2920" y="5550408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577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384"/>
                </a:solidFill>
              </a:rPr>
              <a:t>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561441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Interface Utilisateur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5413248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09360" y="5413248"/>
            <a:ext cx="54864" cy="82296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46520" y="5550408"/>
            <a:ext cx="5029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46520" y="5577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C623"/>
                </a:solidFill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561441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Pourquoi ce projet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44068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44068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BB86FC"/>
                </a:solidFill>
              </a:rPr>
              <a:t>  </a:t>
            </a:r>
            <a:r>
              <a:rPr sz="1400" b="1" i="0" dirty="0" err="1">
                <a:solidFill>
                  <a:srgbClr val="BB86FC"/>
                </a:solidFill>
              </a:rPr>
              <a:t>Problématique</a:t>
            </a:r>
            <a:endParaRPr sz="1400" b="1" i="0" dirty="0">
              <a:solidFill>
                <a:srgbClr val="BB86F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36576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965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FF"/>
                </a:solidFill>
              </a:rPr>
              <a:t>La </a:t>
            </a:r>
            <a:r>
              <a:rPr sz="1200" b="0" i="0" dirty="0" err="1">
                <a:solidFill>
                  <a:srgbClr val="E0E0FF"/>
                </a:solidFill>
              </a:rPr>
              <a:t>prise</a:t>
            </a:r>
            <a:r>
              <a:rPr sz="1200" b="0" i="0" dirty="0">
                <a:solidFill>
                  <a:srgbClr val="E0E0FF"/>
                </a:solidFill>
              </a:rPr>
              <a:t> de RDV </a:t>
            </a:r>
            <a:r>
              <a:rPr sz="1200" b="0" i="0" dirty="0" err="1">
                <a:solidFill>
                  <a:srgbClr val="E0E0FF"/>
                </a:solidFill>
              </a:rPr>
              <a:t>médicaux</a:t>
            </a:r>
            <a:r>
              <a:rPr sz="1200" b="0" i="0" dirty="0">
                <a:solidFill>
                  <a:srgbClr val="E0E0FF"/>
                </a:solidFill>
              </a:rPr>
              <a:t> </a:t>
            </a:r>
            <a:r>
              <a:rPr sz="1200" b="0" i="0" dirty="0" err="1">
                <a:solidFill>
                  <a:srgbClr val="E0E0FF"/>
                </a:solidFill>
              </a:rPr>
              <a:t>reste</a:t>
            </a:r>
            <a:r>
              <a:rPr sz="1200" b="0" i="0" dirty="0">
                <a:solidFill>
                  <a:srgbClr val="E0E0FF"/>
                </a:solidFill>
              </a:rPr>
              <a:t> </a:t>
            </a:r>
            <a:r>
              <a:rPr sz="1200" b="0" i="0" dirty="0" err="1">
                <a:solidFill>
                  <a:srgbClr val="E0E0FF"/>
                </a:solidFill>
              </a:rPr>
              <a:t>souvent</a:t>
            </a:r>
            <a:r>
              <a:rPr sz="1200" b="0" i="0" dirty="0">
                <a:solidFill>
                  <a:srgbClr val="E0E0FF"/>
                </a:solidFill>
              </a:rPr>
              <a:t> </a:t>
            </a:r>
            <a:r>
              <a:rPr sz="1200" b="0" i="0" dirty="0" err="1">
                <a:solidFill>
                  <a:srgbClr val="E0E0FF"/>
                </a:solidFill>
              </a:rPr>
              <a:t>manuelle</a:t>
            </a:r>
            <a:r>
              <a:rPr sz="1200" b="0" i="0" dirty="0">
                <a:solidFill>
                  <a:srgbClr val="E0E0FF"/>
                </a:solidFill>
              </a:rPr>
              <a:t>,
</a:t>
            </a:r>
            <a:r>
              <a:rPr sz="1200" b="0" i="0" dirty="0" err="1">
                <a:solidFill>
                  <a:srgbClr val="E0E0FF"/>
                </a:solidFill>
              </a:rPr>
              <a:t>cronophage</a:t>
            </a:r>
            <a:r>
              <a:rPr sz="1200" b="0" i="0" dirty="0">
                <a:solidFill>
                  <a:srgbClr val="E0E0FF"/>
                </a:solidFill>
              </a:rPr>
              <a:t> et </a:t>
            </a:r>
            <a:r>
              <a:rPr sz="1200" b="0" i="0" dirty="0" err="1">
                <a:solidFill>
                  <a:srgbClr val="E0E0FF"/>
                </a:solidFill>
              </a:rPr>
              <a:t>sujette</a:t>
            </a:r>
            <a:r>
              <a:rPr sz="1200" b="0" i="0" dirty="0">
                <a:solidFill>
                  <a:srgbClr val="E0E0FF"/>
                </a:solidFill>
              </a:rPr>
              <a:t> aux </a:t>
            </a:r>
            <a:r>
              <a:rPr sz="1200" b="0" i="0" dirty="0" err="1">
                <a:solidFill>
                  <a:srgbClr val="E0E0FF"/>
                </a:solidFill>
              </a:rPr>
              <a:t>erreurs</a:t>
            </a:r>
            <a:r>
              <a:rPr sz="1200" b="0" i="0" dirty="0">
                <a:solidFill>
                  <a:srgbClr val="E0E0FF"/>
                </a:solidFill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24912"/>
            <a:ext cx="36576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6791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Les patients doivent appeler, attendre et oublient parfois leurs créneaux.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38144"/>
            <a:ext cx="36576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39242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</a:rPr>
              <a:t>Les secrétaires gèrent des agendas papier difficiles à maintenir.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51376"/>
            <a:ext cx="36576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10565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FF"/>
                </a:solidFill>
              </a:rPr>
              <a:t>Le </a:t>
            </a:r>
            <a:r>
              <a:rPr sz="1200" b="0" i="0" dirty="0" err="1">
                <a:solidFill>
                  <a:srgbClr val="E0E0FF"/>
                </a:solidFill>
              </a:rPr>
              <a:t>secteur</a:t>
            </a:r>
            <a:r>
              <a:rPr sz="1200" b="0" i="0" dirty="0">
                <a:solidFill>
                  <a:srgbClr val="E0E0FF"/>
                </a:solidFill>
              </a:rPr>
              <a:t> </a:t>
            </a:r>
            <a:r>
              <a:rPr sz="1200" b="0" i="0" dirty="0" err="1">
                <a:solidFill>
                  <a:srgbClr val="E0E0FF"/>
                </a:solidFill>
              </a:rPr>
              <a:t>médical</a:t>
            </a:r>
            <a:r>
              <a:rPr sz="1200" b="0" i="0" dirty="0">
                <a:solidFill>
                  <a:srgbClr val="E0E0FF"/>
                </a:solidFill>
              </a:rPr>
              <a:t> a </a:t>
            </a:r>
            <a:r>
              <a:rPr sz="1200" b="0" i="0" dirty="0" err="1">
                <a:solidFill>
                  <a:srgbClr val="E0E0FF"/>
                </a:solidFill>
              </a:rPr>
              <a:t>besoin</a:t>
            </a:r>
            <a:r>
              <a:rPr sz="1200" b="0" i="0" dirty="0">
                <a:solidFill>
                  <a:srgbClr val="E0E0FF"/>
                </a:solidFill>
              </a:rPr>
              <a:t> de </a:t>
            </a:r>
            <a:r>
              <a:rPr sz="1200" b="0" i="0" dirty="0" err="1">
                <a:solidFill>
                  <a:srgbClr val="E0E0FF"/>
                </a:solidFill>
              </a:rPr>
              <a:t>sa</a:t>
            </a:r>
            <a:r>
              <a:rPr sz="1200" b="0" i="0" dirty="0">
                <a:solidFill>
                  <a:srgbClr val="E0E0FF"/>
                </a:solidFill>
              </a:rPr>
              <a:t> transformation numérique.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17320"/>
            <a:ext cx="56235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5623560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508760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3C623"/>
                </a:solidFill>
              </a:rPr>
              <a:t>  </a:t>
            </a:r>
            <a:r>
              <a:rPr sz="1400" b="1" i="0" dirty="0" err="1">
                <a:solidFill>
                  <a:srgbClr val="F3C623"/>
                </a:solidFill>
              </a:rPr>
              <a:t>Objectifs</a:t>
            </a:r>
            <a:endParaRPr sz="1400" b="1" i="0" dirty="0">
              <a:solidFill>
                <a:srgbClr val="F3C62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2011680"/>
            <a:ext cx="53035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011680"/>
            <a:ext cx="54864" cy="65836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066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C623"/>
                </a:solidFill>
              </a:rPr>
              <a:t>Développer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</a:rPr>
              <a:t>une app web full-stack de gestion de RDV médicaux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788920"/>
            <a:ext cx="53035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2788920"/>
            <a:ext cx="54864" cy="65836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28437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C623"/>
                </a:solidFill>
              </a:rPr>
              <a:t>Implémenter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118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</a:rPr>
              <a:t>un système multi-rôles complet (Patient / Médecin / Secrétaire)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566160"/>
            <a:ext cx="53035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3566160"/>
            <a:ext cx="54864" cy="65836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36210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C623"/>
                </a:solidFill>
              </a:rPr>
              <a:t>Concevoir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953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</a:rPr>
              <a:t>une API RESTful sécurisée avec Laravel Sanctum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343400"/>
            <a:ext cx="53035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55080" y="4343400"/>
            <a:ext cx="54864" cy="65836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43982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C623"/>
                </a:solidFill>
              </a:rPr>
              <a:t>Créer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672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</a:rPr>
              <a:t>une interface React moderne, réactive et intuitive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120640"/>
            <a:ext cx="53035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5120640"/>
            <a:ext cx="54864" cy="65836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1755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C623"/>
                </a:solidFill>
              </a:rPr>
              <a:t>Maîtriser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449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</a:rPr>
              <a:t>les bonnes pratiques du développement web professionnel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Présentation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Qui utilise l'application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Une plateforme médicale connectant Patients, Médecins et Secrétaires autour de la gestion intelligente des rendez-vous.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57400"/>
            <a:ext cx="3749039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3749039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3749039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0D2BF"/>
                </a:solidFill>
              </a:rPr>
              <a:t>  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Inscription &amp; connexion sécurisée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Consulter les services disponibles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Prendre un RDV en ligne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Suivre le statut (en attente / confirmé / annulé)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Annuler un RDV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Modifier son profil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2057400"/>
            <a:ext cx="3749039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0248" y="2057400"/>
            <a:ext cx="3749039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0248" y="2057400"/>
            <a:ext cx="3749039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8" y="2121408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9B59B6"/>
                </a:solidFill>
              </a:rPr>
              <a:t> Médecin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788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 dirty="0">
                <a:solidFill>
                  <a:srgbClr val="E0E0FF"/>
                </a:solidFill>
              </a:rPr>
              <a:t>›  </a:t>
            </a:r>
            <a:r>
              <a:rPr sz="1200" dirty="0" err="1">
                <a:solidFill>
                  <a:srgbClr val="E0E0FF"/>
                </a:solidFill>
              </a:rPr>
              <a:t>Créer</a:t>
            </a:r>
            <a:r>
              <a:rPr sz="1200" dirty="0">
                <a:solidFill>
                  <a:srgbClr val="E0E0FF"/>
                </a:solidFill>
              </a:rPr>
              <a:t> &amp; </a:t>
            </a:r>
            <a:r>
              <a:rPr sz="1200" dirty="0" err="1">
                <a:solidFill>
                  <a:srgbClr val="E0E0FF"/>
                </a:solidFill>
              </a:rPr>
              <a:t>gérer</a:t>
            </a:r>
            <a:r>
              <a:rPr sz="1200" dirty="0">
                <a:solidFill>
                  <a:srgbClr val="E0E0FF"/>
                </a:solidFill>
              </a:rPr>
              <a:t> son </a:t>
            </a:r>
            <a:r>
              <a:rPr sz="1200" dirty="0" err="1">
                <a:solidFill>
                  <a:srgbClr val="E0E0FF"/>
                </a:solidFill>
              </a:rPr>
              <a:t>profil</a:t>
            </a:r>
            <a:r>
              <a:rPr sz="1200" dirty="0">
                <a:solidFill>
                  <a:srgbClr val="E0E0FF"/>
                </a:solidFill>
              </a:rPr>
              <a:t> </a:t>
            </a:r>
            <a:r>
              <a:rPr sz="1200" dirty="0" err="1">
                <a:solidFill>
                  <a:srgbClr val="E0E0FF"/>
                </a:solidFill>
              </a:rPr>
              <a:t>médical</a:t>
            </a:r>
            <a:endParaRPr sz="1200" dirty="0">
              <a:solidFill>
                <a:srgbClr val="E0E0FF"/>
              </a:solidFill>
            </a:endParaRPr>
          </a:p>
          <a:p>
            <a:pPr>
              <a:spcBef>
                <a:spcPts val="700"/>
              </a:spcBef>
            </a:pPr>
            <a:r>
              <a:rPr sz="1200" dirty="0">
                <a:solidFill>
                  <a:srgbClr val="E0E0FF"/>
                </a:solidFill>
              </a:rPr>
              <a:t>›  </a:t>
            </a:r>
            <a:r>
              <a:rPr sz="1200" dirty="0" err="1">
                <a:solidFill>
                  <a:srgbClr val="E0E0FF"/>
                </a:solidFill>
              </a:rPr>
              <a:t>Définir</a:t>
            </a:r>
            <a:r>
              <a:rPr sz="1200" dirty="0">
                <a:solidFill>
                  <a:srgbClr val="E0E0FF"/>
                </a:solidFill>
              </a:rPr>
              <a:t> </a:t>
            </a:r>
            <a:r>
              <a:rPr sz="1200" dirty="0" err="1">
                <a:solidFill>
                  <a:srgbClr val="E0E0FF"/>
                </a:solidFill>
              </a:rPr>
              <a:t>ses</a:t>
            </a:r>
            <a:r>
              <a:rPr sz="1200" dirty="0">
                <a:solidFill>
                  <a:srgbClr val="E0E0FF"/>
                </a:solidFill>
              </a:rPr>
              <a:t> services (nom, durée, prix)</a:t>
            </a:r>
          </a:p>
          <a:p>
            <a:pPr>
              <a:spcBef>
                <a:spcPts val="700"/>
              </a:spcBef>
            </a:pPr>
            <a:r>
              <a:rPr sz="1200" dirty="0">
                <a:solidFill>
                  <a:srgbClr val="E0E0FF"/>
                </a:solidFill>
              </a:rPr>
              <a:t>›  </a:t>
            </a:r>
            <a:r>
              <a:rPr sz="1200" dirty="0" err="1">
                <a:solidFill>
                  <a:srgbClr val="E0E0FF"/>
                </a:solidFill>
              </a:rPr>
              <a:t>Créer</a:t>
            </a:r>
            <a:r>
              <a:rPr sz="1200" dirty="0">
                <a:solidFill>
                  <a:srgbClr val="E0E0FF"/>
                </a:solidFill>
              </a:rPr>
              <a:t> </a:t>
            </a:r>
            <a:r>
              <a:rPr sz="1200" dirty="0" err="1">
                <a:solidFill>
                  <a:srgbClr val="E0E0FF"/>
                </a:solidFill>
              </a:rPr>
              <a:t>ses</a:t>
            </a:r>
            <a:r>
              <a:rPr sz="1200" dirty="0">
                <a:solidFill>
                  <a:srgbClr val="E0E0FF"/>
                </a:solidFill>
              </a:rPr>
              <a:t> </a:t>
            </a:r>
            <a:r>
              <a:rPr sz="1200" dirty="0" err="1">
                <a:solidFill>
                  <a:srgbClr val="E0E0FF"/>
                </a:solidFill>
              </a:rPr>
              <a:t>créneaux</a:t>
            </a:r>
            <a:r>
              <a:rPr sz="1200" dirty="0">
                <a:solidFill>
                  <a:srgbClr val="E0E0FF"/>
                </a:solidFill>
              </a:rPr>
              <a:t> </a:t>
            </a:r>
            <a:r>
              <a:rPr sz="1200" dirty="0" err="1">
                <a:solidFill>
                  <a:srgbClr val="E0E0FF"/>
                </a:solidFill>
              </a:rPr>
              <a:t>horaires</a:t>
            </a:r>
            <a:endParaRPr sz="1200" dirty="0">
              <a:solidFill>
                <a:srgbClr val="E0E0FF"/>
              </a:solidFill>
            </a:endParaRPr>
          </a:p>
          <a:p>
            <a:pPr>
              <a:spcBef>
                <a:spcPts val="700"/>
              </a:spcBef>
            </a:pPr>
            <a:r>
              <a:rPr sz="1200" dirty="0">
                <a:solidFill>
                  <a:srgbClr val="E0E0FF"/>
                </a:solidFill>
              </a:rPr>
              <a:t>›  Vue </a:t>
            </a:r>
            <a:r>
              <a:rPr sz="1200" dirty="0" err="1">
                <a:solidFill>
                  <a:srgbClr val="E0E0FF"/>
                </a:solidFill>
              </a:rPr>
              <a:t>calendrier</a:t>
            </a:r>
            <a:r>
              <a:rPr sz="1200" dirty="0">
                <a:solidFill>
                  <a:srgbClr val="E0E0FF"/>
                </a:solidFill>
              </a:rPr>
              <a:t> interactive</a:t>
            </a:r>
          </a:p>
          <a:p>
            <a:pPr>
              <a:spcBef>
                <a:spcPts val="700"/>
              </a:spcBef>
            </a:pPr>
            <a:r>
              <a:rPr sz="1200" dirty="0">
                <a:solidFill>
                  <a:srgbClr val="E0E0FF"/>
                </a:solidFill>
              </a:rPr>
              <a:t>›  </a:t>
            </a:r>
            <a:r>
              <a:rPr sz="1200" dirty="0" err="1">
                <a:solidFill>
                  <a:srgbClr val="E0E0FF"/>
                </a:solidFill>
              </a:rPr>
              <a:t>Créer</a:t>
            </a:r>
            <a:r>
              <a:rPr sz="1200" dirty="0">
                <a:solidFill>
                  <a:srgbClr val="E0E0FF"/>
                </a:solidFill>
              </a:rPr>
              <a:t> un compte </a:t>
            </a:r>
            <a:r>
              <a:rPr sz="1200" dirty="0" err="1">
                <a:solidFill>
                  <a:srgbClr val="E0E0FF"/>
                </a:solidFill>
              </a:rPr>
              <a:t>secrétaire</a:t>
            </a:r>
            <a:endParaRPr sz="1200" dirty="0">
              <a:solidFill>
                <a:srgbClr val="E0E0FF"/>
              </a:solidFill>
            </a:endParaRPr>
          </a:p>
          <a:p>
            <a:pPr>
              <a:spcBef>
                <a:spcPts val="700"/>
              </a:spcBef>
            </a:pPr>
            <a:r>
              <a:rPr sz="1200" dirty="0">
                <a:solidFill>
                  <a:srgbClr val="E0E0FF"/>
                </a:solidFill>
              </a:rPr>
              <a:t>›  Voir </a:t>
            </a:r>
            <a:r>
              <a:rPr sz="1200" dirty="0" err="1">
                <a:solidFill>
                  <a:srgbClr val="E0E0FF"/>
                </a:solidFill>
              </a:rPr>
              <a:t>tous</a:t>
            </a:r>
            <a:r>
              <a:rPr sz="1200" dirty="0">
                <a:solidFill>
                  <a:srgbClr val="E0E0FF"/>
                </a:solidFill>
              </a:rPr>
              <a:t> </a:t>
            </a:r>
            <a:r>
              <a:rPr sz="1200" dirty="0" err="1">
                <a:solidFill>
                  <a:srgbClr val="E0E0FF"/>
                </a:solidFill>
              </a:rPr>
              <a:t>ses</a:t>
            </a:r>
            <a:r>
              <a:rPr sz="1200" dirty="0">
                <a:solidFill>
                  <a:srgbClr val="E0E0FF"/>
                </a:solidFill>
              </a:rPr>
              <a:t> RDV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2057400"/>
            <a:ext cx="3749039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0456" y="2057400"/>
            <a:ext cx="3749039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0456" y="2057400"/>
            <a:ext cx="3749039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57616" y="2121408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F3C623"/>
                </a:solidFill>
              </a:rPr>
              <a:t> </a:t>
            </a:r>
            <a:r>
              <a:rPr sz="1800" b="1" i="0" dirty="0" err="1">
                <a:solidFill>
                  <a:srgbClr val="F3C623"/>
                </a:solidFill>
              </a:rPr>
              <a:t>Secrétaire</a:t>
            </a:r>
            <a:endParaRPr sz="1800" b="1" i="0" dirty="0">
              <a:solidFill>
                <a:srgbClr val="F3C623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7616" y="2788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Voir la liste de tous les patients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Gérer tous les rendez-vous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Confirmer des RDV en attente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Annuler ou supprimer des RDV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Assistance administrative complète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E0E0FF"/>
                </a:solidFill>
              </a:rPr>
              <a:t>›  Interface dédiée et sécurisée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Architecture 3-Tiers — SPA + REST API + BDD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365760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365760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463040"/>
            <a:ext cx="36576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15361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2BF"/>
                </a:solidFill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8653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</a:rPr>
              <a:t>Client 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7744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React 19  (SPA)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Redux Toolkit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</a:t>
            </a:r>
            <a:r>
              <a:rPr sz="1250" dirty="0" err="1">
                <a:solidFill>
                  <a:srgbClr val="E0E0FF"/>
                </a:solidFill>
              </a:rPr>
              <a:t>TailwindCSS</a:t>
            </a:r>
            <a:r>
              <a:rPr sz="1250" dirty="0">
                <a:solidFill>
                  <a:srgbClr val="E0E0FF"/>
                </a:solidFill>
              </a:rPr>
              <a:t> 4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React Router DOM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Axios HTTP Client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</a:t>
            </a:r>
            <a:r>
              <a:rPr sz="1250" dirty="0" err="1">
                <a:solidFill>
                  <a:srgbClr val="E0E0FF"/>
                </a:solidFill>
              </a:rPr>
              <a:t>FullCalendar</a:t>
            </a:r>
            <a:r>
              <a:rPr sz="1250" dirty="0">
                <a:solidFill>
                  <a:srgbClr val="E0E0FF"/>
                </a:solidFill>
              </a:rPr>
              <a:t> 6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Vite 8 (build)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463040"/>
            <a:ext cx="365760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0248" y="1463040"/>
            <a:ext cx="365760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0248" y="1463040"/>
            <a:ext cx="36576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15361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18653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</a:rPr>
              <a:t>API Laravel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237744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Laravel 12  (PHP 8.2)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Laravel Sanctum (auth)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Eloquent ORM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7 </a:t>
            </a:r>
            <a:r>
              <a:rPr sz="1250" dirty="0" err="1">
                <a:solidFill>
                  <a:srgbClr val="E0E0FF"/>
                </a:solidFill>
              </a:rPr>
              <a:t>Contrôleurs</a:t>
            </a:r>
            <a:endParaRPr sz="1250" dirty="0">
              <a:solidFill>
                <a:srgbClr val="E0E0FF"/>
              </a:solidFill>
            </a:endParaRP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7 </a:t>
            </a:r>
            <a:r>
              <a:rPr sz="1250" dirty="0" err="1">
                <a:solidFill>
                  <a:srgbClr val="E0E0FF"/>
                </a:solidFill>
              </a:rPr>
              <a:t>Modèles</a:t>
            </a:r>
            <a:r>
              <a:rPr sz="1250" dirty="0">
                <a:solidFill>
                  <a:srgbClr val="E0E0FF"/>
                </a:solidFill>
              </a:rPr>
              <a:t> Eloquent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50+ Routes API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Middleware RBAC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463040"/>
            <a:ext cx="365760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0456" y="1463040"/>
            <a:ext cx="3657600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0456" y="1463040"/>
            <a:ext cx="36576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06256" y="15361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C623"/>
                </a:solidFill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18653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</a:rPr>
              <a:t>Données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2430511"/>
            <a:ext cx="3291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SQLite / MySQL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8 Migrations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7 Tables </a:t>
            </a:r>
            <a:r>
              <a:rPr sz="1250" dirty="0" err="1">
                <a:solidFill>
                  <a:srgbClr val="E0E0FF"/>
                </a:solidFill>
              </a:rPr>
              <a:t>relationnelles</a:t>
            </a:r>
            <a:endParaRPr sz="1250" dirty="0">
              <a:solidFill>
                <a:srgbClr val="E0E0FF"/>
              </a:solidFill>
            </a:endParaRP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</a:t>
            </a:r>
            <a:r>
              <a:rPr sz="1250" dirty="0" err="1">
                <a:solidFill>
                  <a:srgbClr val="E0E0FF"/>
                </a:solidFill>
              </a:rPr>
              <a:t>Clés</a:t>
            </a:r>
            <a:r>
              <a:rPr sz="1250" dirty="0">
                <a:solidFill>
                  <a:srgbClr val="E0E0FF"/>
                </a:solidFill>
              </a:rPr>
              <a:t> </a:t>
            </a:r>
            <a:r>
              <a:rPr sz="1250" dirty="0" err="1">
                <a:solidFill>
                  <a:srgbClr val="E0E0FF"/>
                </a:solidFill>
              </a:rPr>
              <a:t>étrangères</a:t>
            </a:r>
            <a:r>
              <a:rPr sz="1250" dirty="0">
                <a:solidFill>
                  <a:srgbClr val="E0E0FF"/>
                </a:solidFill>
              </a:rPr>
              <a:t> (FK)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Factories &amp; Seeders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E0E0FF"/>
                </a:solidFill>
              </a:rPr>
              <a:t>▸  Timestamps auto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5928" y="3474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C623"/>
                </a:solidFill>
              </a:rPr>
              <a:t>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928" y="39776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HTTP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474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C623"/>
                </a:solidFill>
              </a:rPr>
              <a:t>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9776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Stack Technologique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Technologies utilisées dans ce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2176272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1005840" cy="25603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1618488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F0F1A"/>
                </a:solidFill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React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Interface utilisateur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463040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15184" y="1463040"/>
            <a:ext cx="2176272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06624" y="1600200"/>
            <a:ext cx="1005840" cy="2560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24912" y="1618488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1965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Laravel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6624" y="24688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Framework PHP 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1463040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56048" y="1463040"/>
            <a:ext cx="217627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47488" y="1600200"/>
            <a:ext cx="100584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65776" y="1618488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1965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TailwindCSS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4688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Styles utilitaires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1463040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96912" y="1463040"/>
            <a:ext cx="2176272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88352" y="1600200"/>
            <a:ext cx="1005840" cy="2560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0" y="1618488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1965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Redux Toolkit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4688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Gestion d'état global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7776" y="1463040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37776" y="1463040"/>
            <a:ext cx="2176272" cy="73152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29216" y="1600200"/>
            <a:ext cx="1005840" cy="256032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47504" y="1618488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Sécurité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1965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Sanctum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9216" y="24688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Auth par tokens Bearer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77639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3977639"/>
            <a:ext cx="2176272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4114800"/>
            <a:ext cx="1005840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8" y="4133087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48055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FullCalendar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98347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Calendrier interactif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15184" y="3977639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615184" y="3977639"/>
            <a:ext cx="2176272" cy="73152"/>
          </a:xfrm>
          <a:prstGeom prst="rect">
            <a:avLst/>
          </a:prstGeom>
          <a:solidFill>
            <a:srgbClr val="671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706624" y="4114800"/>
            <a:ext cx="1005840" cy="256032"/>
          </a:xfrm>
          <a:prstGeom prst="rect">
            <a:avLst/>
          </a:prstGeom>
          <a:solidFill>
            <a:srgbClr val="671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24912" y="4133087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Frontend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6624" y="448055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Axios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6624" y="498347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Client HTTP / API calls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56048" y="3977639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956048" y="3977639"/>
            <a:ext cx="2176272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47488" y="4114800"/>
            <a:ext cx="1005840" cy="25603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65776" y="4133087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DevTools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48055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Vite 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7488" y="498347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Bundler ultra-rapide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96912" y="3977639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96912" y="3977639"/>
            <a:ext cx="217627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388352" y="4114800"/>
            <a:ext cx="1005840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0" y="4133087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Backend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88352" y="448055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PHP 8.2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88352" y="498347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Langage serveur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37776" y="3977639"/>
            <a:ext cx="217627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37776" y="3977639"/>
            <a:ext cx="2176272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729216" y="4114800"/>
            <a:ext cx="1005840" cy="25603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47504" y="4133087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Backend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29216" y="4480559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29216" y="498347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A0C0"/>
                </a:solidFill>
              </a:rPr>
              <a:t>Base de données relationnelle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Ce que fait l'application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7150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73152" cy="1508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57276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B59B6"/>
                </a:solidFill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Auth Multi-Rôle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8424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Inscription / connexion sécurisée. Trois rôles distincts avec accès séparés. Token Sanctum + localStorage.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7150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463040"/>
            <a:ext cx="73152" cy="1508760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157276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2BF"/>
                </a:solidFill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2BF"/>
                </a:solidFill>
              </a:rPr>
              <a:t>Prise de RDV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98424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Le patient sélectionne médecin, service et créneau. RDV créé avec statut 'en attente' automatiquement.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27248"/>
            <a:ext cx="57150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127248"/>
            <a:ext cx="73152" cy="150876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23697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3C623"/>
                </a:solidFill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86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C623"/>
                </a:solidFill>
              </a:rPr>
              <a:t>Gestion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48456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Le médecin crée ses services médicaux (nom, durée en min, prix en DH). Suppression dynamique.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127248"/>
            <a:ext cx="57150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127248"/>
            <a:ext cx="73152" cy="150876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323697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E576"/>
                </a:solidFill>
              </a:rPr>
              <a:t>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2186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</a:rPr>
              <a:t>Créneaux Horaires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648456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Création de plages disponibles. Marquage automatique 'indisponible' après réservation.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91456"/>
            <a:ext cx="57150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4791456"/>
            <a:ext cx="73152" cy="150876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490118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6384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8828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384"/>
                </a:solidFill>
              </a:rPr>
              <a:t>Calendrier Visuel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312664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Interface FullCalendar pour visualiser les RDV par jour, semaine ou mois. Vue interactive.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791456"/>
            <a:ext cx="571500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791456"/>
            <a:ext cx="73152" cy="1508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8231" y="490118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8C00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8828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Gestion Statuts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5312664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Trois statuts : En attente → Confirmé / Annulé. Secrétaire gère les confirmations.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Modèle Relationnel — 7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116128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1161288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234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600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59B6"/>
                </a:solidFill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664208"/>
            <a:ext cx="10104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</a:rPr>
              <a:t>id · nom · prenom · email · password · 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06040"/>
            <a:ext cx="3840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606040"/>
            <a:ext cx="384048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606040"/>
            <a:ext cx="1234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2BF"/>
                </a:solidFill>
              </a:rPr>
              <a:t>patients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07208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</a:rPr>
              <a:t>id · user_id* · telephone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606040"/>
            <a:ext cx="3840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2606040"/>
            <a:ext cx="384048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60" y="2606040"/>
            <a:ext cx="1234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2743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2BF"/>
                </a:solidFill>
              </a:rPr>
              <a:t>medecins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807208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</a:rPr>
              <a:t>id · user_id* · specialite · adresse · photo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606040"/>
            <a:ext cx="365760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2606040"/>
            <a:ext cx="365760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2606040"/>
            <a:ext cx="1234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2743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2BF"/>
                </a:solidFill>
              </a:rPr>
              <a:t>secretaires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80720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</a:rPr>
              <a:t>id · user_id* · medecin_id*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3840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3749039"/>
            <a:ext cx="3840480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3749039"/>
            <a:ext cx="1234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886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C623"/>
                </a:solidFill>
              </a:rPr>
              <a:t>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950207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</a:rPr>
              <a:t>id · medecin_id* · nom · duree · prix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3749039"/>
            <a:ext cx="3840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1960" y="3749039"/>
            <a:ext cx="3840480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51960" y="3749039"/>
            <a:ext cx="1234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43400" y="3886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creneaux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950207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</a:rPr>
              <a:t>id · medecin_id* · date · heure_debut · heure_fin · disponible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892040"/>
            <a:ext cx="116128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4892040"/>
            <a:ext cx="1161288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4320" y="4892040"/>
            <a:ext cx="12344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5029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rendez_vous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5093207"/>
            <a:ext cx="10104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</a:rPr>
              <a:t>id · patient_id* · service_id* · creneau_id* · date · heure · 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01675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C0"/>
                </a:solidFill>
              </a:rPr>
              <a:t>* = Clé Étrangère (FK)   ·   Toutes les tables : created_at / updated_at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Sécurité &amp; Authentification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Protéger l'API et les routes 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173736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1737360" cy="64008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527048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2BF"/>
                </a:solidFill>
              </a:rPr>
              <a:t>Inscription
/ Connexion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399" y="17373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0A0C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1463040"/>
            <a:ext cx="173736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58568" y="1463040"/>
            <a:ext cx="1737360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04287" y="1527048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B59B6"/>
                </a:solidFill>
              </a:rPr>
              <a:t>Token
Sanctum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7" y="17373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0A0C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1463040"/>
            <a:ext cx="173736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42816" y="1463040"/>
            <a:ext cx="1737360" cy="6400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88536" y="1527048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C623"/>
                </a:solidFill>
              </a:rPr>
              <a:t>localStorage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5" y="17373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0A0C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1463040"/>
            <a:ext cx="173736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27064" y="1463040"/>
            <a:ext cx="1737360" cy="6400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1527048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6384"/>
                </a:solidFill>
              </a:rPr>
              <a:t>Axios
Interceptor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17373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0A0C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1463040"/>
            <a:ext cx="173736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11312" y="1463040"/>
            <a:ext cx="1737360" cy="6400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2" y="1527048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76"/>
                </a:solidFill>
              </a:rPr>
              <a:t>Bearer
Token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17373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0A0C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1463040"/>
            <a:ext cx="173736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95560" y="1463040"/>
            <a:ext cx="173736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0" y="1527048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8C00"/>
                </a:solidFill>
              </a:rPr>
              <a:t>Middleware
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514600"/>
            <a:ext cx="2834640" cy="4023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2514600"/>
            <a:ext cx="283464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2651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Laravel Sanctum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32461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Authentification par token Bearer. Chaque token est lié à un utilisateur. Révocation propre à la déconnexion.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55263" y="2514600"/>
            <a:ext cx="2834640" cy="4023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55263" y="2514600"/>
            <a:ext cx="283464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86783" y="2651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D2BF"/>
                </a:solidFill>
              </a:rPr>
              <a:t>bcrypt</a:t>
            </a:r>
            <a:r>
              <a:rPr sz="1300" b="1" i="0" dirty="0">
                <a:solidFill>
                  <a:srgbClr val="00D2BF"/>
                </a:solidFill>
              </a:rPr>
              <a:t>  ×12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2423" y="32461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</a:rPr>
              <a:t>Hashage des mots de passe avec 12 rounds. Aucun mot de passe jamais stocké en clair dans la base.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7" y="2514600"/>
            <a:ext cx="2834640" cy="4023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36207" y="2514600"/>
            <a:ext cx="2834640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67727" y="2651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C623"/>
                </a:solidFill>
              </a:rPr>
              <a:t>RBAC Complet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2615" y="32461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E0E0FF"/>
                </a:solidFill>
              </a:rPr>
              <a:t>Trois </a:t>
            </a:r>
            <a:r>
              <a:rPr sz="1150" b="0" i="0" dirty="0" err="1">
                <a:solidFill>
                  <a:srgbClr val="E0E0FF"/>
                </a:solidFill>
              </a:rPr>
              <a:t>rôles</a:t>
            </a:r>
            <a:r>
              <a:rPr sz="1150" b="0" i="0" dirty="0">
                <a:solidFill>
                  <a:srgbClr val="E0E0FF"/>
                </a:solidFill>
              </a:rPr>
              <a:t> : Patient, Médecin, </a:t>
            </a:r>
            <a:r>
              <a:rPr sz="1150" b="0" i="0" dirty="0" err="1">
                <a:solidFill>
                  <a:srgbClr val="E0E0FF"/>
                </a:solidFill>
              </a:rPr>
              <a:t>Secrétaire</a:t>
            </a:r>
            <a:r>
              <a:rPr sz="1150" b="0" i="0" dirty="0">
                <a:solidFill>
                  <a:srgbClr val="E0E0FF"/>
                </a:solidFill>
              </a:rPr>
              <a:t>. Middleware backend + </a:t>
            </a:r>
            <a:r>
              <a:rPr sz="1150" b="0" i="0" dirty="0" err="1">
                <a:solidFill>
                  <a:srgbClr val="E0E0FF"/>
                </a:solidFill>
              </a:rPr>
              <a:t>ProtectedRoutes</a:t>
            </a:r>
            <a:r>
              <a:rPr sz="1150" b="0" i="0" dirty="0">
                <a:solidFill>
                  <a:srgbClr val="E0E0FF"/>
                </a:solidFill>
              </a:rPr>
              <a:t> React pour </a:t>
            </a:r>
            <a:r>
              <a:rPr sz="1150" b="0" i="0" dirty="0" err="1">
                <a:solidFill>
                  <a:srgbClr val="E0E0FF"/>
                </a:solidFill>
              </a:rPr>
              <a:t>sécuriser</a:t>
            </a:r>
            <a:r>
              <a:rPr sz="1150" b="0" i="0" dirty="0">
                <a:solidFill>
                  <a:srgbClr val="E0E0FF"/>
                </a:solidFill>
              </a:rPr>
              <a:t> </a:t>
            </a:r>
            <a:r>
              <a:rPr sz="1150" b="0" i="0" dirty="0" err="1">
                <a:solidFill>
                  <a:srgbClr val="E0E0FF"/>
                </a:solidFill>
              </a:rPr>
              <a:t>chaque</a:t>
            </a:r>
            <a:r>
              <a:rPr sz="1150" b="0" i="0" dirty="0">
                <a:solidFill>
                  <a:srgbClr val="E0E0FF"/>
                </a:solidFill>
              </a:rPr>
              <a:t> </a:t>
            </a:r>
            <a:r>
              <a:rPr sz="1150" b="0" i="0" dirty="0" err="1">
                <a:solidFill>
                  <a:srgbClr val="E0E0FF"/>
                </a:solidFill>
              </a:rPr>
              <a:t>vue</a:t>
            </a:r>
            <a:r>
              <a:rPr sz="1150" b="0" i="0" dirty="0">
                <a:solidFill>
                  <a:srgbClr val="E0E0FF"/>
                </a:solidFill>
              </a:rPr>
              <a:t>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2" y="2514600"/>
            <a:ext cx="2834640" cy="4023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217152" y="2514600"/>
            <a:ext cx="2834640" cy="73152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97287" y="266547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384"/>
                </a:solidFill>
              </a:rPr>
              <a:t>Routes Sécurisées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273552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E0E0FF"/>
                </a:solidFill>
              </a:rPr>
              <a:t>ProtectedRoutes</a:t>
            </a:r>
            <a:r>
              <a:rPr sz="1150" b="0" i="0" dirty="0">
                <a:solidFill>
                  <a:srgbClr val="E0E0FF"/>
                </a:solidFill>
              </a:rPr>
              <a:t> </a:t>
            </a:r>
            <a:r>
              <a:rPr sz="1150" b="0" i="0" dirty="0" err="1">
                <a:solidFill>
                  <a:srgbClr val="E0E0FF"/>
                </a:solidFill>
              </a:rPr>
              <a:t>valide</a:t>
            </a:r>
            <a:r>
              <a:rPr sz="1150" b="0" i="0" dirty="0">
                <a:solidFill>
                  <a:srgbClr val="E0E0FF"/>
                </a:solidFill>
              </a:rPr>
              <a:t> </a:t>
            </a:r>
            <a:r>
              <a:rPr sz="1150" b="0" i="0" dirty="0" err="1">
                <a:solidFill>
                  <a:srgbClr val="E0E0FF"/>
                </a:solidFill>
              </a:rPr>
              <a:t>l'auth</a:t>
            </a:r>
            <a:r>
              <a:rPr sz="1150" b="0" i="0" dirty="0">
                <a:solidFill>
                  <a:srgbClr val="E0E0FF"/>
                </a:solidFill>
              </a:rPr>
              <a:t> ET le </a:t>
            </a:r>
            <a:r>
              <a:rPr sz="1150" b="0" i="0" dirty="0" err="1">
                <a:solidFill>
                  <a:srgbClr val="E0E0FF"/>
                </a:solidFill>
              </a:rPr>
              <a:t>rôle</a:t>
            </a:r>
            <a:r>
              <a:rPr sz="1150" b="0" i="0" dirty="0">
                <a:solidFill>
                  <a:srgbClr val="E0E0FF"/>
                </a:solidFill>
              </a:rPr>
              <a:t>. Redirection </a:t>
            </a:r>
            <a:r>
              <a:rPr sz="1150" b="0" i="0" dirty="0" err="1">
                <a:solidFill>
                  <a:srgbClr val="E0E0FF"/>
                </a:solidFill>
              </a:rPr>
              <a:t>automatique</a:t>
            </a:r>
            <a:r>
              <a:rPr sz="1150" b="0" i="0" dirty="0">
                <a:solidFill>
                  <a:srgbClr val="E0E0FF"/>
                </a:solidFill>
              </a:rPr>
              <a:t> vers Login </a:t>
            </a:r>
            <a:r>
              <a:rPr sz="1150" b="0" i="0" dirty="0" err="1">
                <a:solidFill>
                  <a:srgbClr val="E0E0FF"/>
                </a:solidFill>
              </a:rPr>
              <a:t>si</a:t>
            </a:r>
            <a:r>
              <a:rPr sz="1150" b="0" i="0" dirty="0">
                <a:solidFill>
                  <a:srgbClr val="E0E0FF"/>
                </a:solidFill>
              </a:rPr>
              <a:t> </a:t>
            </a:r>
            <a:r>
              <a:rPr sz="1150" b="0" i="0" dirty="0" err="1">
                <a:solidFill>
                  <a:srgbClr val="E0E0FF"/>
                </a:solidFill>
              </a:rPr>
              <a:t>accès</a:t>
            </a:r>
            <a:r>
              <a:rPr sz="1150" b="0" i="0" dirty="0">
                <a:solidFill>
                  <a:srgbClr val="E0E0FF"/>
                </a:solidFill>
              </a:rPr>
              <a:t> non </a:t>
            </a:r>
            <a:r>
              <a:rPr sz="1150" b="0" i="0" dirty="0" err="1">
                <a:solidFill>
                  <a:srgbClr val="E0E0FF"/>
                </a:solidFill>
              </a:rPr>
              <a:t>autorisé</a:t>
            </a:r>
            <a:r>
              <a:rPr sz="1150" b="0" i="0" dirty="0">
                <a:solidFill>
                  <a:srgbClr val="E0E0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API RESTful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Base URL :  http://127.0.0.1:8000/api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57784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57784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5361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BF"/>
                </a:solidFill>
              </a:rPr>
              <a:t>  Routes Publiques  (sans token)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0574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00E576"/>
                </a:solidFill>
              </a:rPr>
              <a:t>POST </a:t>
            </a:r>
            <a:r>
              <a:rPr sz="950">
                <a:solidFill>
                  <a:srgbClr val="E0E0FF"/>
                </a:solidFill>
              </a:rPr>
              <a:t>/register  </a:t>
            </a:r>
            <a:r>
              <a:rPr sz="900" i="1">
                <a:solidFill>
                  <a:srgbClr val="A0A0C0"/>
                </a:solidFill>
              </a:rPr>
              <a:t>Inscription patient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E576"/>
                </a:solidFill>
              </a:rPr>
              <a:t>POST </a:t>
            </a:r>
            <a:r>
              <a:rPr sz="950">
                <a:solidFill>
                  <a:srgbClr val="E0E0FF"/>
                </a:solidFill>
              </a:rPr>
              <a:t>/login  </a:t>
            </a:r>
            <a:r>
              <a:rPr sz="900" i="1">
                <a:solidFill>
                  <a:srgbClr val="A0A0C0"/>
                </a:solidFill>
              </a:rPr>
              <a:t>Connexion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E576"/>
                </a:solidFill>
              </a:rPr>
              <a:t>POST </a:t>
            </a:r>
            <a:r>
              <a:rPr sz="950">
                <a:solidFill>
                  <a:srgbClr val="E0E0FF"/>
                </a:solidFill>
              </a:rPr>
              <a:t>/medecin/creer  </a:t>
            </a:r>
            <a:r>
              <a:rPr sz="900" i="1">
                <a:solidFill>
                  <a:srgbClr val="A0A0C0"/>
                </a:solidFill>
              </a:rPr>
              <a:t>Créer compte médecin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D2BF"/>
                </a:solidFill>
              </a:rPr>
              <a:t>GET </a:t>
            </a:r>
            <a:r>
              <a:rPr sz="950">
                <a:solidFill>
                  <a:srgbClr val="E0E0FF"/>
                </a:solidFill>
              </a:rPr>
              <a:t>/medecin/{id}  </a:t>
            </a:r>
            <a:r>
              <a:rPr sz="900" i="1">
                <a:solidFill>
                  <a:srgbClr val="A0A0C0"/>
                </a:solidFill>
              </a:rPr>
              <a:t>Profil médecin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D2BF"/>
                </a:solidFill>
              </a:rPr>
              <a:t>GET </a:t>
            </a:r>
            <a:r>
              <a:rPr sz="950">
                <a:solidFill>
                  <a:srgbClr val="E0E0FF"/>
                </a:solidFill>
              </a:rPr>
              <a:t>/services/{id}  </a:t>
            </a:r>
            <a:r>
              <a:rPr sz="900" i="1">
                <a:solidFill>
                  <a:srgbClr val="A0A0C0"/>
                </a:solidFill>
              </a:rPr>
              <a:t>Services d'un médecin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D2BF"/>
                </a:solidFill>
              </a:rPr>
              <a:t>GET </a:t>
            </a:r>
            <a:r>
              <a:rPr sz="950">
                <a:solidFill>
                  <a:srgbClr val="E0E0FF"/>
                </a:solidFill>
              </a:rPr>
              <a:t>/creneaux/{id}  </a:t>
            </a:r>
            <a:r>
              <a:rPr sz="900" i="1">
                <a:solidFill>
                  <a:srgbClr val="A0A0C0"/>
                </a:solidFill>
              </a:rPr>
              <a:t>Créneaux disponibles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D2BF"/>
                </a:solidFill>
              </a:rPr>
              <a:t>GET </a:t>
            </a:r>
            <a:r>
              <a:rPr sz="950">
                <a:solidFill>
                  <a:srgbClr val="E0E0FF"/>
                </a:solidFill>
              </a:rPr>
              <a:t>/check-email  </a:t>
            </a:r>
            <a:r>
              <a:rPr sz="900" i="1">
                <a:solidFill>
                  <a:srgbClr val="A0A0C0"/>
                </a:solidFill>
              </a:rPr>
              <a:t>Vérif. email existant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463040"/>
            <a:ext cx="557784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557784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5361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</a:rPr>
              <a:t>  Routes Protégées  (Bearer token requis)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00D2BF"/>
                </a:solidFill>
              </a:rPr>
              <a:t>GET </a:t>
            </a:r>
            <a:r>
              <a:rPr sz="950">
                <a:solidFill>
                  <a:srgbClr val="E0E0FF"/>
                </a:solidFill>
              </a:rPr>
              <a:t>/patient/profil  </a:t>
            </a:r>
            <a:r>
              <a:rPr sz="900" i="1">
                <a:solidFill>
                  <a:srgbClr val="A0A0C0"/>
                </a:solidFill>
              </a:rPr>
              <a:t>Mon profil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F3C623"/>
                </a:solidFill>
              </a:rPr>
              <a:t>PUT </a:t>
            </a:r>
            <a:r>
              <a:rPr sz="950">
                <a:solidFill>
                  <a:srgbClr val="E0E0FF"/>
                </a:solidFill>
              </a:rPr>
              <a:t>/patient/modifier  </a:t>
            </a:r>
            <a:r>
              <a:rPr sz="900" i="1">
                <a:solidFill>
                  <a:srgbClr val="A0A0C0"/>
                </a:solidFill>
              </a:rPr>
              <a:t>Modifier profil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E576"/>
                </a:solidFill>
              </a:rPr>
              <a:t>POST </a:t>
            </a:r>
            <a:r>
              <a:rPr sz="950">
                <a:solidFill>
                  <a:srgbClr val="E0E0FF"/>
                </a:solidFill>
              </a:rPr>
              <a:t>/rendez-vous/prendre  </a:t>
            </a:r>
            <a:r>
              <a:rPr sz="900" i="1">
                <a:solidFill>
                  <a:srgbClr val="A0A0C0"/>
                </a:solidFill>
              </a:rPr>
              <a:t>Prendre un RDV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F3C623"/>
                </a:solidFill>
              </a:rPr>
              <a:t>PUT </a:t>
            </a:r>
            <a:r>
              <a:rPr sz="950">
                <a:solidFill>
                  <a:srgbClr val="E0E0FF"/>
                </a:solidFill>
              </a:rPr>
              <a:t>/rendez-vous/annuler/{id}  </a:t>
            </a:r>
            <a:r>
              <a:rPr sz="900" i="1">
                <a:solidFill>
                  <a:srgbClr val="A0A0C0"/>
                </a:solidFill>
              </a:rPr>
              <a:t>Annuler mon RDV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D2BF"/>
                </a:solidFill>
              </a:rPr>
              <a:t>GET </a:t>
            </a:r>
            <a:r>
              <a:rPr sz="950">
                <a:solidFill>
                  <a:srgbClr val="E0E0FF"/>
                </a:solidFill>
              </a:rPr>
              <a:t>/rendez-vous  </a:t>
            </a:r>
            <a:r>
              <a:rPr sz="900" i="1">
                <a:solidFill>
                  <a:srgbClr val="A0A0C0"/>
                </a:solidFill>
              </a:rPr>
              <a:t>Mes RDV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E576"/>
                </a:solidFill>
              </a:rPr>
              <a:t>POST </a:t>
            </a:r>
            <a:r>
              <a:rPr sz="950">
                <a:solidFill>
                  <a:srgbClr val="E0E0FF"/>
                </a:solidFill>
              </a:rPr>
              <a:t>/service/creer  </a:t>
            </a:r>
            <a:r>
              <a:rPr sz="900" i="1">
                <a:solidFill>
                  <a:srgbClr val="A0A0C0"/>
                </a:solidFill>
              </a:rPr>
              <a:t>Créer service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FF6384"/>
                </a:solidFill>
              </a:rPr>
              <a:t>DELETE </a:t>
            </a:r>
            <a:r>
              <a:rPr sz="950">
                <a:solidFill>
                  <a:srgbClr val="E0E0FF"/>
                </a:solidFill>
              </a:rPr>
              <a:t>/service/supprimer/{id}  </a:t>
            </a:r>
            <a:r>
              <a:rPr sz="900" i="1">
                <a:solidFill>
                  <a:srgbClr val="A0A0C0"/>
                </a:solidFill>
              </a:rPr>
              <a:t>Supprimer service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E576"/>
                </a:solidFill>
              </a:rPr>
              <a:t>POST </a:t>
            </a:r>
            <a:r>
              <a:rPr sz="950">
                <a:solidFill>
                  <a:srgbClr val="E0E0FF"/>
                </a:solidFill>
              </a:rPr>
              <a:t>/creneau/creer  </a:t>
            </a:r>
            <a:r>
              <a:rPr sz="900" i="1">
                <a:solidFill>
                  <a:srgbClr val="A0A0C0"/>
                </a:solidFill>
              </a:rPr>
              <a:t>Créer créneau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F3C623"/>
                </a:solidFill>
              </a:rPr>
              <a:t>PUT </a:t>
            </a:r>
            <a:r>
              <a:rPr sz="950">
                <a:solidFill>
                  <a:srgbClr val="E0E0FF"/>
                </a:solidFill>
              </a:rPr>
              <a:t>/secretaire/rdv/confirmer/{id}  </a:t>
            </a:r>
            <a:r>
              <a:rPr sz="900" i="1">
                <a:solidFill>
                  <a:srgbClr val="A0A0C0"/>
                </a:solidFill>
              </a:rPr>
              <a:t>Confirmer RDV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FF6384"/>
                </a:solidFill>
              </a:rPr>
              <a:t>DELETE </a:t>
            </a:r>
            <a:r>
              <a:rPr sz="950">
                <a:solidFill>
                  <a:srgbClr val="E0E0FF"/>
                </a:solidFill>
              </a:rPr>
              <a:t>/secretaire/rdv/supprimer/{id}  </a:t>
            </a:r>
            <a:r>
              <a:rPr sz="900" i="1">
                <a:solidFill>
                  <a:srgbClr val="A0A0C0"/>
                </a:solidFill>
              </a:rPr>
              <a:t>Supprimer RDV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0E576"/>
                </a:solidFill>
              </a:rPr>
              <a:t>POST </a:t>
            </a:r>
            <a:r>
              <a:rPr sz="950">
                <a:solidFill>
                  <a:srgbClr val="E0E0FF"/>
                </a:solidFill>
              </a:rPr>
              <a:t>/logout  </a:t>
            </a:r>
            <a:r>
              <a:rPr sz="900" i="1">
                <a:solidFill>
                  <a:srgbClr val="A0A0C0"/>
                </a:solidFill>
              </a:rPr>
              <a:t>Déconnexion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Interface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Single Page Application — React + TailwindCSS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0C0"/>
                </a:solidFill>
              </a:rPr>
              <a:t>Navigation fluide avec React Router DOM  ·  État global Redux  ·  Requêtes Axios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2834640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283464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874519"/>
            <a:ext cx="283464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19476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BF"/>
                </a:solidFill>
              </a:rPr>
              <a:t>Authentification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65176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Page Login / Register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Validation côté client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Redirection selon le rôle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Gestion des erreurs affichée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Persistance token localStorage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1874519"/>
            <a:ext cx="2834640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36976" y="1874519"/>
            <a:ext cx="283464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36976" y="1874519"/>
            <a:ext cx="283464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77056" y="19476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Dashboard Patient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265176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Profil modifiable en ligne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Catalogue des services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Prise de RDV intuitive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Suivi des statuts RDV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Annulation en un clic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1874519"/>
            <a:ext cx="2834640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1874519"/>
            <a:ext cx="2834640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1874519"/>
            <a:ext cx="283464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9712" y="19476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C623"/>
                </a:solidFill>
              </a:rPr>
              <a:t>Dashboard Médecin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65176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Gestion services (CRUD)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Création de créneaux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Vue calendrier FullCalendar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Liste de tous les RDV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Création compte secrétaire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62288" y="1874519"/>
            <a:ext cx="2834640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62288" y="1874519"/>
            <a:ext cx="2834640" cy="73152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62288" y="1874519"/>
            <a:ext cx="283464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02368" y="19476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384"/>
                </a:solidFill>
              </a:rPr>
              <a:t>Dashboard Secrétaire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65176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Liste de tous les patients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Tous les RDV centralisés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Confirmation des RDV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Annulation / Suppression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0E0FF"/>
                </a:solidFill>
              </a:rPr>
              <a:t>›  Gestion administrative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Défis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Problèmes rencontrés et comment ils ont été résolus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7150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71500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7150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9B59B6"/>
                </a:solidFill>
              </a:rPr>
              <a:t>  Gestion Multi-</a:t>
            </a:r>
            <a:r>
              <a:rPr sz="1400" b="1" i="0" dirty="0" err="1">
                <a:solidFill>
                  <a:srgbClr val="9B59B6"/>
                </a:solidFill>
              </a:rPr>
              <a:t>Rôle</a:t>
            </a:r>
            <a:r>
              <a:rPr lang="en-US" sz="1400" b="1" i="0" dirty="0" err="1">
                <a:solidFill>
                  <a:srgbClr val="9B59B6"/>
                </a:solidFill>
              </a:rPr>
              <a:t>s</a:t>
            </a:r>
            <a:endParaRPr sz="1400" b="1" i="0" dirty="0">
              <a:solidFill>
                <a:srgbClr val="9B59B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79" y="2176272"/>
            <a:ext cx="73152" cy="5029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59" y="21488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A0A0C0"/>
                </a:solidFill>
              </a:rPr>
              <a:t>Défi  ›  Accès strictement séparés côté frontend ET backend.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2761488"/>
            <a:ext cx="73152" cy="6858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59" y="27432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E0FF"/>
                </a:solidFill>
              </a:rPr>
              <a:t>Solution  ›  RBAC via middleware Laravel + ProtectedRoutes React.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463040"/>
            <a:ext cx="57150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463040"/>
            <a:ext cx="5715000" cy="73152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1463040"/>
            <a:ext cx="57150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2BF"/>
                </a:solidFill>
              </a:rPr>
              <a:t> </a:t>
            </a:r>
            <a:r>
              <a:rPr sz="1400" b="1" i="0" dirty="0" err="1">
                <a:solidFill>
                  <a:srgbClr val="00D2BF"/>
                </a:solidFill>
              </a:rPr>
              <a:t>Synchronisation</a:t>
            </a:r>
            <a:r>
              <a:rPr sz="1400" b="1" i="0" dirty="0">
                <a:solidFill>
                  <a:srgbClr val="00D2BF"/>
                </a:solidFill>
              </a:rPr>
              <a:t> État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176272"/>
            <a:ext cx="73152" cy="5029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399" y="21488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A0A0C0"/>
                </a:solidFill>
              </a:rPr>
              <a:t>Défi  ›  Cohérence du token et du rôle dans toute l'app React.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761488"/>
            <a:ext cx="73152" cy="6858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399" y="27432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E0FF"/>
                </a:solidFill>
              </a:rPr>
              <a:t>Solution  ›  Redux AuthSlice + localStorage + Axios interceptor auto.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05072"/>
            <a:ext cx="57150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4005072"/>
            <a:ext cx="5715000" cy="7315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005072"/>
            <a:ext cx="57150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79" y="4096511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3C623"/>
                </a:solidFill>
              </a:rPr>
              <a:t>  </a:t>
            </a:r>
            <a:r>
              <a:rPr sz="1400" b="1" i="0" dirty="0" err="1">
                <a:solidFill>
                  <a:srgbClr val="F3C623"/>
                </a:solidFill>
              </a:rPr>
              <a:t>Disponibilité</a:t>
            </a:r>
            <a:r>
              <a:rPr sz="1400" b="1" i="0" dirty="0">
                <a:solidFill>
                  <a:srgbClr val="F3C623"/>
                </a:solidFill>
              </a:rPr>
              <a:t> </a:t>
            </a:r>
            <a:r>
              <a:rPr sz="1400" b="1" i="0" dirty="0" err="1">
                <a:solidFill>
                  <a:srgbClr val="F3C623"/>
                </a:solidFill>
              </a:rPr>
              <a:t>Créneaux</a:t>
            </a:r>
            <a:endParaRPr sz="1400" b="1" i="0" dirty="0">
              <a:solidFill>
                <a:srgbClr val="F3C62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11479" y="4718304"/>
            <a:ext cx="73152" cy="5029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59" y="4690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 err="1">
                <a:solidFill>
                  <a:srgbClr val="A0A0C0"/>
                </a:solidFill>
              </a:rPr>
              <a:t>Défi</a:t>
            </a:r>
            <a:r>
              <a:rPr sz="1150" b="0" i="1" dirty="0">
                <a:solidFill>
                  <a:srgbClr val="A0A0C0"/>
                </a:solidFill>
              </a:rPr>
              <a:t>  ›  </a:t>
            </a:r>
            <a:r>
              <a:rPr sz="1150" b="0" i="1" dirty="0" err="1">
                <a:solidFill>
                  <a:srgbClr val="A0A0C0"/>
                </a:solidFill>
              </a:rPr>
              <a:t>Éviter</a:t>
            </a:r>
            <a:r>
              <a:rPr sz="1150" b="0" i="1" dirty="0">
                <a:solidFill>
                  <a:srgbClr val="A0A0C0"/>
                </a:solidFill>
              </a:rPr>
              <a:t> les doubles </a:t>
            </a:r>
            <a:r>
              <a:rPr sz="1150" b="0" i="1" dirty="0" err="1">
                <a:solidFill>
                  <a:srgbClr val="A0A0C0"/>
                </a:solidFill>
              </a:rPr>
              <a:t>réservations</a:t>
            </a:r>
            <a:r>
              <a:rPr sz="1150" b="0" i="1" dirty="0">
                <a:solidFill>
                  <a:srgbClr val="A0A0C0"/>
                </a:solidFill>
              </a:rPr>
              <a:t> </a:t>
            </a:r>
            <a:r>
              <a:rPr sz="1150" b="0" i="1" dirty="0" err="1">
                <a:solidFill>
                  <a:srgbClr val="A0A0C0"/>
                </a:solidFill>
              </a:rPr>
              <a:t>simultanées</a:t>
            </a:r>
            <a:r>
              <a:rPr sz="1150" b="0" i="1" dirty="0">
                <a:solidFill>
                  <a:srgbClr val="A0A0C0"/>
                </a:solidFill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79" y="5303520"/>
            <a:ext cx="73152" cy="6858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59" y="5285231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E0FF"/>
                </a:solidFill>
              </a:rPr>
              <a:t>Solution  ›  Champ 'disponible' mis à jour en BDD lors de la réservation.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005072"/>
            <a:ext cx="571500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59" y="4005072"/>
            <a:ext cx="5715000" cy="73152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59" y="4005072"/>
            <a:ext cx="57150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096511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6384"/>
                </a:solidFill>
              </a:rPr>
              <a:t> </a:t>
            </a:r>
            <a:r>
              <a:rPr sz="1400" b="1" i="0" dirty="0" err="1">
                <a:solidFill>
                  <a:srgbClr val="FF6384"/>
                </a:solidFill>
              </a:rPr>
              <a:t>Intégration</a:t>
            </a:r>
            <a:r>
              <a:rPr sz="1400" b="1" i="0" dirty="0">
                <a:solidFill>
                  <a:srgbClr val="FF6384"/>
                </a:solidFill>
              </a:rPr>
              <a:t> </a:t>
            </a:r>
            <a:r>
              <a:rPr sz="1400" b="1" i="0" dirty="0" err="1">
                <a:solidFill>
                  <a:srgbClr val="FF6384"/>
                </a:solidFill>
              </a:rPr>
              <a:t>Calendrier</a:t>
            </a:r>
            <a:endParaRPr sz="1400" b="1" i="0" dirty="0">
              <a:solidFill>
                <a:srgbClr val="FF6384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46520" y="4718304"/>
            <a:ext cx="73152" cy="5029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399" y="4690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A0A0C0"/>
                </a:solidFill>
              </a:rPr>
              <a:t>Défi  ›  Affichage correct des RDV selon les plages horaires.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5303520"/>
            <a:ext cx="73152" cy="6858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399" y="5285231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0E0FF"/>
                </a:solidFill>
              </a:rPr>
              <a:t>Solution  ›  FullCalendar 6 avec plugins DayGrid, TimeGrid, Interaction.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C0"/>
                </a:solidFill>
              </a:rPr>
              <a:t>Ce que ce stage m'a apporté — et ce qui reste à faire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76272" y="1188720"/>
            <a:ext cx="54864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C0"/>
                </a:solidFill>
              </a:rPr>
              <a:t>RendezVous App  |  Projet de Stage  |  2025-2026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48640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486400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536192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E576"/>
                </a:solidFill>
              </a:rPr>
              <a:t>  Bilan du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488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Application web full-stack </a:t>
            </a:r>
            <a:r>
              <a:rPr sz="1250" dirty="0" err="1">
                <a:solidFill>
                  <a:srgbClr val="E0E0FF"/>
                </a:solidFill>
              </a:rPr>
              <a:t>fonctionnelle</a:t>
            </a:r>
            <a:r>
              <a:rPr sz="1250" dirty="0">
                <a:solidFill>
                  <a:srgbClr val="E0E0FF"/>
                </a:solidFill>
              </a:rPr>
              <a:t> de A à Z</a:t>
            </a:r>
          </a:p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Système multi-</a:t>
            </a:r>
            <a:r>
              <a:rPr sz="1250" dirty="0" err="1">
                <a:solidFill>
                  <a:srgbClr val="E0E0FF"/>
                </a:solidFill>
              </a:rPr>
              <a:t>rôle</a:t>
            </a:r>
            <a:r>
              <a:rPr sz="1250" dirty="0">
                <a:solidFill>
                  <a:srgbClr val="E0E0FF"/>
                </a:solidFill>
              </a:rPr>
              <a:t> </a:t>
            </a:r>
            <a:r>
              <a:rPr sz="1250" dirty="0" err="1">
                <a:solidFill>
                  <a:srgbClr val="E0E0FF"/>
                </a:solidFill>
              </a:rPr>
              <a:t>complet</a:t>
            </a:r>
            <a:r>
              <a:rPr sz="1250" dirty="0">
                <a:solidFill>
                  <a:srgbClr val="E0E0FF"/>
                </a:solidFill>
              </a:rPr>
              <a:t> et </a:t>
            </a:r>
            <a:r>
              <a:rPr sz="1250" dirty="0" err="1">
                <a:solidFill>
                  <a:srgbClr val="E0E0FF"/>
                </a:solidFill>
              </a:rPr>
              <a:t>sécurisé</a:t>
            </a:r>
            <a:endParaRPr sz="1250" dirty="0">
              <a:solidFill>
                <a:srgbClr val="E0E0FF"/>
              </a:solidFill>
            </a:endParaRPr>
          </a:p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API RESTful avec 50+ endpoints </a:t>
            </a:r>
            <a:r>
              <a:rPr sz="1250" dirty="0" err="1">
                <a:solidFill>
                  <a:srgbClr val="E0E0FF"/>
                </a:solidFill>
              </a:rPr>
              <a:t>documentés</a:t>
            </a:r>
            <a:endParaRPr sz="1250" dirty="0">
              <a:solidFill>
                <a:srgbClr val="E0E0FF"/>
              </a:solidFill>
            </a:endParaRPr>
          </a:p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Interface React </a:t>
            </a:r>
            <a:r>
              <a:rPr sz="1250" dirty="0" err="1">
                <a:solidFill>
                  <a:srgbClr val="E0E0FF"/>
                </a:solidFill>
              </a:rPr>
              <a:t>moderne</a:t>
            </a:r>
            <a:r>
              <a:rPr sz="1250" dirty="0">
                <a:solidFill>
                  <a:srgbClr val="E0E0FF"/>
                </a:solidFill>
              </a:rPr>
              <a:t> et </a:t>
            </a:r>
            <a:r>
              <a:rPr sz="1250" dirty="0" err="1">
                <a:solidFill>
                  <a:srgbClr val="E0E0FF"/>
                </a:solidFill>
              </a:rPr>
              <a:t>réactive</a:t>
            </a:r>
            <a:endParaRPr sz="1250" dirty="0">
              <a:solidFill>
                <a:srgbClr val="E0E0FF"/>
              </a:solidFill>
            </a:endParaRPr>
          </a:p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</a:t>
            </a:r>
            <a:r>
              <a:rPr sz="1250" dirty="0" err="1">
                <a:solidFill>
                  <a:srgbClr val="E0E0FF"/>
                </a:solidFill>
              </a:rPr>
              <a:t>Authentification</a:t>
            </a:r>
            <a:r>
              <a:rPr sz="1250" dirty="0">
                <a:solidFill>
                  <a:srgbClr val="E0E0FF"/>
                </a:solidFill>
              </a:rPr>
              <a:t> </a:t>
            </a:r>
            <a:r>
              <a:rPr sz="1250" dirty="0" err="1">
                <a:solidFill>
                  <a:srgbClr val="E0E0FF"/>
                </a:solidFill>
              </a:rPr>
              <a:t>robuste</a:t>
            </a:r>
            <a:r>
              <a:rPr sz="1250" dirty="0">
                <a:solidFill>
                  <a:srgbClr val="E0E0FF"/>
                </a:solidFill>
              </a:rPr>
              <a:t> (Sanctum + </a:t>
            </a:r>
            <a:r>
              <a:rPr sz="1250" dirty="0" err="1">
                <a:solidFill>
                  <a:srgbClr val="E0E0FF"/>
                </a:solidFill>
              </a:rPr>
              <a:t>bcrypt</a:t>
            </a:r>
            <a:r>
              <a:rPr sz="1250" dirty="0">
                <a:solidFill>
                  <a:srgbClr val="E0E0FF"/>
                </a:solidFill>
              </a:rPr>
              <a:t>)</a:t>
            </a:r>
          </a:p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</a:t>
            </a:r>
            <a:r>
              <a:rPr sz="1250" dirty="0" err="1">
                <a:solidFill>
                  <a:srgbClr val="E0E0FF"/>
                </a:solidFill>
              </a:rPr>
              <a:t>Calendrier</a:t>
            </a:r>
            <a:r>
              <a:rPr sz="1250" dirty="0">
                <a:solidFill>
                  <a:srgbClr val="E0E0FF"/>
                </a:solidFill>
              </a:rPr>
              <a:t> </a:t>
            </a:r>
            <a:r>
              <a:rPr sz="1250" dirty="0" err="1">
                <a:solidFill>
                  <a:srgbClr val="E0E0FF"/>
                </a:solidFill>
              </a:rPr>
              <a:t>médical</a:t>
            </a:r>
            <a:r>
              <a:rPr sz="1250" dirty="0">
                <a:solidFill>
                  <a:srgbClr val="E0E0FF"/>
                </a:solidFill>
              </a:rPr>
              <a:t> </a:t>
            </a:r>
            <a:r>
              <a:rPr sz="1250" dirty="0" err="1">
                <a:solidFill>
                  <a:srgbClr val="E0E0FF"/>
                </a:solidFill>
              </a:rPr>
              <a:t>interactif</a:t>
            </a:r>
            <a:r>
              <a:rPr sz="1250" dirty="0">
                <a:solidFill>
                  <a:srgbClr val="E0E0FF"/>
                </a:solidFill>
              </a:rPr>
              <a:t> (</a:t>
            </a:r>
            <a:r>
              <a:rPr sz="1250" dirty="0" err="1">
                <a:solidFill>
                  <a:srgbClr val="E0E0FF"/>
                </a:solidFill>
              </a:rPr>
              <a:t>FullCalendar</a:t>
            </a:r>
            <a:r>
              <a:rPr sz="1250" dirty="0">
                <a:solidFill>
                  <a:srgbClr val="E0E0FF"/>
                </a:solidFill>
              </a:rPr>
              <a:t>)</a:t>
            </a:r>
          </a:p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</a:t>
            </a:r>
            <a:r>
              <a:rPr sz="1250" dirty="0" err="1">
                <a:solidFill>
                  <a:srgbClr val="E0E0FF"/>
                </a:solidFill>
              </a:rPr>
              <a:t>Maîtrise</a:t>
            </a:r>
            <a:r>
              <a:rPr sz="1250" dirty="0">
                <a:solidFill>
                  <a:srgbClr val="E0E0FF"/>
                </a:solidFill>
              </a:rPr>
              <a:t> : React, Redux, Laravel, </a:t>
            </a:r>
            <a:r>
              <a:rPr sz="1250" dirty="0" err="1">
                <a:solidFill>
                  <a:srgbClr val="E0E0FF"/>
                </a:solidFill>
              </a:rPr>
              <a:t>TailwindCSS</a:t>
            </a:r>
            <a:endParaRPr sz="1250" dirty="0">
              <a:solidFill>
                <a:srgbClr val="E0E0FF"/>
              </a:solidFill>
            </a:endParaRPr>
          </a:p>
          <a:p>
            <a:pPr>
              <a:spcBef>
                <a:spcPts val="800"/>
              </a:spcBef>
            </a:pPr>
            <a:r>
              <a:rPr sz="1250" dirty="0">
                <a:solidFill>
                  <a:srgbClr val="E0E0FF"/>
                </a:solidFill>
              </a:rPr>
              <a:t>✔  Architecture Client-</a:t>
            </a:r>
            <a:r>
              <a:rPr sz="1250" dirty="0" err="1">
                <a:solidFill>
                  <a:srgbClr val="E0E0FF"/>
                </a:solidFill>
              </a:rPr>
              <a:t>Serveur</a:t>
            </a:r>
            <a:r>
              <a:rPr sz="1250" dirty="0">
                <a:solidFill>
                  <a:srgbClr val="E0E0FF"/>
                </a:solidFill>
              </a:rPr>
              <a:t> </a:t>
            </a:r>
            <a:r>
              <a:rPr sz="1250" dirty="0" err="1">
                <a:solidFill>
                  <a:srgbClr val="E0E0FF"/>
                </a:solidFill>
              </a:rPr>
              <a:t>professionnelle</a:t>
            </a:r>
            <a:endParaRPr sz="1250" dirty="0">
              <a:solidFill>
                <a:srgbClr val="E0E0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57784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557784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536192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BB86FC"/>
                </a:solidFill>
              </a:rPr>
              <a:t> </a:t>
            </a:r>
            <a:r>
              <a:rPr sz="1400" b="1" i="0" dirty="0">
                <a:solidFill>
                  <a:srgbClr val="BB86FC"/>
                </a:solidFill>
              </a:rPr>
              <a:t>Perspectives </a:t>
            </a:r>
            <a:r>
              <a:rPr sz="1400" b="1" i="0" dirty="0" err="1">
                <a:solidFill>
                  <a:srgbClr val="BB86FC"/>
                </a:solidFill>
              </a:rPr>
              <a:t>d'Évolution</a:t>
            </a:r>
            <a:endParaRPr sz="1400" b="1" i="0" dirty="0">
              <a:solidFill>
                <a:srgbClr val="BB86FC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21488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Notifications email / SMS automatiques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Application mobile (React Native / Flutter)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Paiement en ligne des consultations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Dossier médical patient numérique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Tableau de bord analytique &amp; statistiques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Géolocalisation des cabinets médicaux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Intégration systèmes hospitaliers (HL7)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0E0FF"/>
                </a:solidFill>
              </a:rPr>
              <a:t>→  Déploiement cloud (AWS / VPS)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400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320040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20040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0" y="5029200"/>
            <a:ext cx="182880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Merci pour votre attention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697480"/>
            <a:ext cx="2468880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0" y="2697480"/>
            <a:ext cx="64008" cy="6400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06440" y="2697480"/>
            <a:ext cx="3200400" cy="64008"/>
          </a:xfrm>
          <a:prstGeom prst="rect">
            <a:avLst/>
          </a:prstGeom>
          <a:solidFill>
            <a:srgbClr val="00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86FC"/>
                </a:solidFill>
              </a:rPr>
              <a:t>Questions &amp; Discussion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749039"/>
            <a:ext cx="758952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0" y="3749039"/>
            <a:ext cx="7589520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384048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0A0C0"/>
                </a:solidFill>
              </a:rPr>
              <a:t>RendezVous App  —  Système de Gestion des RDV Médicaux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3434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2BF"/>
                </a:solidFill>
              </a:rPr>
              <a:t>React  ·  Laravel 12  ·  Redux  ·  TailwindCSS  ·  Sanctum  ·  FullCalendar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46320"/>
            <a:ext cx="7406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3C623"/>
                </a:solidFill>
              </a:rPr>
              <a:t>Milad </a:t>
            </a:r>
            <a:r>
              <a:rPr lang="en-US" sz="1200" b="0" i="0" dirty="0">
                <a:solidFill>
                  <a:srgbClr val="F3C623"/>
                </a:solidFill>
              </a:rPr>
              <a:t>Dlou</a:t>
            </a:r>
            <a:r>
              <a:rPr sz="1200" b="0" i="0" dirty="0">
                <a:solidFill>
                  <a:srgbClr val="F3C623"/>
                </a:solidFill>
              </a:rPr>
              <a:t>   </a:t>
            </a:r>
            <a:r>
              <a:rPr lang="en-US" sz="1200" dirty="0">
                <a:solidFill>
                  <a:srgbClr val="F3C623"/>
                </a:solidFill>
              </a:rPr>
              <a:t>Miladdlou45</a:t>
            </a:r>
            <a:r>
              <a:rPr sz="1200" b="0" i="0" dirty="0">
                <a:solidFill>
                  <a:srgbClr val="F3C623"/>
                </a:solidFill>
              </a:rPr>
              <a:t>@gmail.com   | 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1519</Words>
  <Application>Microsoft Office PowerPoint</Application>
  <PresentationFormat>Custom</PresentationFormat>
  <Paragraphs>290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Milad El Dlou (VNSLI-Y)</cp:lastModifiedBy>
  <cp:revision>2</cp:revision>
  <dcterms:created xsi:type="dcterms:W3CDTF">2013-01-27T09:14:16Z</dcterms:created>
  <dcterms:modified xsi:type="dcterms:W3CDTF">2026-05-29T22:13:02Z</dcterms:modified>
  <cp:category/>
</cp:coreProperties>
</file>