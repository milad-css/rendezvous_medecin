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946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45920" y="1188720"/>
            <a:ext cx="8869680" cy="4389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645920" y="1188720"/>
            <a:ext cx="8869680" cy="7315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645920" y="5504688"/>
            <a:ext cx="8869680" cy="73152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645920" y="1188720"/>
            <a:ext cx="73152" cy="438912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0442448" y="1188720"/>
            <a:ext cx="73152" cy="4389120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828800" y="2133600"/>
            <a:ext cx="8503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 dirty="0" err="1">
                <a:solidFill>
                  <a:srgbClr val="FFFFFF"/>
                </a:solidFill>
              </a:rPr>
              <a:t>RendezVous</a:t>
            </a:r>
            <a:r>
              <a:rPr sz="4600" b="1" i="0" dirty="0">
                <a:solidFill>
                  <a:srgbClr val="FFFFFF"/>
                </a:solidFill>
              </a:rPr>
              <a:t> App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3337560"/>
            <a:ext cx="5760720" cy="4572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166360" y="3337560"/>
            <a:ext cx="1828800" cy="45720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28800" y="347472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B86FC"/>
                </a:solidFill>
              </a:rPr>
              <a:t>Système de Gestion des Rendez-Vous Médicaux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0690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D2BF"/>
                </a:solidFill>
              </a:rPr>
              <a:t>React  ·  Laravel 12  ·  Redux  ·  TailwindCSS  ·  Sanctum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5262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A0A0C0"/>
                </a:solidFill>
              </a:rPr>
              <a:t>Rapport de Stage — Développement Web Full-Stack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983480"/>
            <a:ext cx="8503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 err="1">
                <a:solidFill>
                  <a:srgbClr val="F3C623"/>
                </a:solidFill>
              </a:rPr>
              <a:t>Réalisé</a:t>
            </a:r>
            <a:r>
              <a:rPr sz="1100" b="0" i="0" dirty="0">
                <a:solidFill>
                  <a:srgbClr val="F3C623"/>
                </a:solidFill>
              </a:rPr>
              <a:t> par : Milad </a:t>
            </a:r>
            <a:r>
              <a:rPr lang="en-US" sz="1100" b="0" i="0" dirty="0">
                <a:solidFill>
                  <a:srgbClr val="F3C623"/>
                </a:solidFill>
              </a:rPr>
              <a:t>Dlou</a:t>
            </a:r>
            <a:r>
              <a:rPr sz="1100" b="0" i="0" dirty="0">
                <a:solidFill>
                  <a:srgbClr val="F3C623"/>
                </a:solidFill>
              </a:rPr>
              <a:t>     |     Année :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Sommaire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1828800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176272" y="91440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57784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463040"/>
            <a:ext cx="54864" cy="8229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1600200"/>
            <a:ext cx="50292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16276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9B59B6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6420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FFFFFF"/>
                </a:solidFill>
              </a:rPr>
              <a:t>Contexte</a:t>
            </a:r>
            <a:r>
              <a:rPr sz="1400" b="0" i="0" dirty="0">
                <a:solidFill>
                  <a:srgbClr val="FFFFFF"/>
                </a:solidFill>
              </a:rPr>
              <a:t> &amp; </a:t>
            </a:r>
            <a:r>
              <a:rPr sz="1400" b="0" i="0" dirty="0" err="1">
                <a:solidFill>
                  <a:srgbClr val="FFFFFF"/>
                </a:solidFill>
              </a:rPr>
              <a:t>Objectifs</a:t>
            </a:r>
            <a:endParaRPr sz="1400" b="0" i="0" dirty="0">
              <a:solidFill>
                <a:srgbClr val="FFFFFF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57784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09360" y="1463040"/>
            <a:ext cx="54864" cy="822960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46520" y="1600200"/>
            <a:ext cx="50292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D2BF"/>
                </a:solidFill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166420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Présentation du Projet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450592"/>
            <a:ext cx="557784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2450592"/>
            <a:ext cx="54864" cy="822960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2587752"/>
            <a:ext cx="50292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261518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6384"/>
                </a:solidFill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26517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</a:rPr>
              <a:t>Architecture Technique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2450592"/>
            <a:ext cx="557784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09360" y="2450592"/>
            <a:ext cx="54864" cy="822960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46520" y="2587752"/>
            <a:ext cx="50292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261518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3C623"/>
                </a:solidFill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26517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</a:rPr>
              <a:t>Stack </a:t>
            </a:r>
            <a:r>
              <a:rPr sz="1400" b="0" i="0" dirty="0" err="1">
                <a:solidFill>
                  <a:srgbClr val="FFFFFF"/>
                </a:solidFill>
              </a:rPr>
              <a:t>Technologique</a:t>
            </a:r>
            <a:endParaRPr sz="1400" b="0" i="0" dirty="0">
              <a:solidFill>
                <a:srgbClr val="FFFFFF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65760" y="3438144"/>
            <a:ext cx="557784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65760" y="3438144"/>
            <a:ext cx="54864" cy="82296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02920" y="3575304"/>
            <a:ext cx="50292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2920" y="360273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E576"/>
                </a:solidFill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363931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FFFFFF"/>
                </a:solidFill>
              </a:rPr>
              <a:t>Fonctionnalités</a:t>
            </a:r>
            <a:r>
              <a:rPr sz="1400" b="0" i="0" dirty="0">
                <a:solidFill>
                  <a:srgbClr val="FFFFFF"/>
                </a:solidFill>
              </a:rPr>
              <a:t> </a:t>
            </a:r>
            <a:r>
              <a:rPr sz="1400" b="0" i="0" dirty="0" err="1">
                <a:solidFill>
                  <a:srgbClr val="FFFFFF"/>
                </a:solidFill>
              </a:rPr>
              <a:t>Clés</a:t>
            </a:r>
            <a:endParaRPr sz="1400" b="0" i="0" dirty="0">
              <a:solidFill>
                <a:srgbClr val="FFFFFF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6309360" y="3438144"/>
            <a:ext cx="557784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09360" y="3438144"/>
            <a:ext cx="54864" cy="8229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46520" y="3575304"/>
            <a:ext cx="50292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46520" y="360273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8C00"/>
                </a:solidFill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86600" y="363931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</a:rPr>
              <a:t>Base de Données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425696"/>
            <a:ext cx="557784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65760" y="4425696"/>
            <a:ext cx="54864" cy="822960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2920" y="4562856"/>
            <a:ext cx="50292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02920" y="45902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BB86FC"/>
                </a:solidFill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4626864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Sécurité &amp; Auth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4425696"/>
            <a:ext cx="557784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309360" y="4425696"/>
            <a:ext cx="54864" cy="822960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446520" y="4562856"/>
            <a:ext cx="50292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46520" y="45902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D2BF"/>
                </a:solidFill>
              </a:rPr>
              <a:t>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86600" y="4626864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</a:rPr>
              <a:t>API RESTful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13248"/>
            <a:ext cx="557784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365760" y="5413248"/>
            <a:ext cx="54864" cy="822960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502920" y="5550408"/>
            <a:ext cx="50292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02920" y="55778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6384"/>
                </a:solidFill>
              </a:rPr>
              <a:t>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43000" y="5614416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</a:rPr>
              <a:t>Interface </a:t>
            </a:r>
            <a:r>
              <a:rPr sz="1400" b="0" i="0" dirty="0" err="1">
                <a:solidFill>
                  <a:srgbClr val="FFFFFF"/>
                </a:solidFill>
              </a:rPr>
              <a:t>Utilisateur</a:t>
            </a:r>
            <a:endParaRPr sz="1400" b="0" i="0" dirty="0">
              <a:solidFill>
                <a:srgbClr val="FFFFFF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6309360" y="5413248"/>
            <a:ext cx="557784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309360" y="5413248"/>
            <a:ext cx="54864" cy="822960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446520" y="5550408"/>
            <a:ext cx="502920" cy="5486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446520" y="55778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3C623"/>
                </a:solidFill>
              </a:rPr>
              <a:t>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600" y="5614416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FFFFFF"/>
                </a:solidFill>
              </a:rPr>
              <a:t>Conclusion &amp; Perspectives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Contexte &amp; Objectifs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Pourquoi ce projet ?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828800" cy="5486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76272" y="118872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544068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417320"/>
            <a:ext cx="5440680" cy="5486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1508760"/>
            <a:ext cx="5212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BB86FC"/>
                </a:solidFill>
              </a:rPr>
              <a:t>  </a:t>
            </a:r>
            <a:r>
              <a:rPr sz="1400" b="1" i="0" dirty="0" err="1">
                <a:solidFill>
                  <a:srgbClr val="BB86FC"/>
                </a:solidFill>
              </a:rPr>
              <a:t>Problématique</a:t>
            </a:r>
            <a:endParaRPr sz="1400" b="1" i="0" dirty="0">
              <a:solidFill>
                <a:srgbClr val="BB86FC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" y="2011680"/>
            <a:ext cx="36576" cy="4572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196596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E0E0FF"/>
                </a:solidFill>
              </a:rPr>
              <a:t>La </a:t>
            </a:r>
            <a:r>
              <a:rPr sz="1200" b="0" i="0" dirty="0" err="1">
                <a:solidFill>
                  <a:srgbClr val="E0E0FF"/>
                </a:solidFill>
              </a:rPr>
              <a:t>prise</a:t>
            </a:r>
            <a:r>
              <a:rPr sz="1200" b="0" i="0" dirty="0">
                <a:solidFill>
                  <a:srgbClr val="E0E0FF"/>
                </a:solidFill>
              </a:rPr>
              <a:t> de RDV </a:t>
            </a:r>
            <a:r>
              <a:rPr sz="1200" b="0" i="0" dirty="0" err="1">
                <a:solidFill>
                  <a:srgbClr val="E0E0FF"/>
                </a:solidFill>
              </a:rPr>
              <a:t>médicaux</a:t>
            </a:r>
            <a:r>
              <a:rPr sz="1200" b="0" i="0" dirty="0">
                <a:solidFill>
                  <a:srgbClr val="E0E0FF"/>
                </a:solidFill>
              </a:rPr>
              <a:t> </a:t>
            </a:r>
            <a:r>
              <a:rPr sz="1200" b="0" i="0" dirty="0" err="1">
                <a:solidFill>
                  <a:srgbClr val="E0E0FF"/>
                </a:solidFill>
              </a:rPr>
              <a:t>reste</a:t>
            </a:r>
            <a:r>
              <a:rPr sz="1200" b="0" i="0" dirty="0">
                <a:solidFill>
                  <a:srgbClr val="E0E0FF"/>
                </a:solidFill>
              </a:rPr>
              <a:t> </a:t>
            </a:r>
            <a:r>
              <a:rPr sz="1200" b="0" i="0" dirty="0" err="1">
                <a:solidFill>
                  <a:srgbClr val="E0E0FF"/>
                </a:solidFill>
              </a:rPr>
              <a:t>souvent</a:t>
            </a:r>
            <a:r>
              <a:rPr sz="1200" b="0" i="0" dirty="0">
                <a:solidFill>
                  <a:srgbClr val="E0E0FF"/>
                </a:solidFill>
              </a:rPr>
              <a:t> </a:t>
            </a:r>
            <a:r>
              <a:rPr sz="1200" b="0" i="0" dirty="0" err="1">
                <a:solidFill>
                  <a:srgbClr val="E0E0FF"/>
                </a:solidFill>
              </a:rPr>
              <a:t>manuelle</a:t>
            </a:r>
            <a:r>
              <a:rPr sz="1200" b="0" i="0" dirty="0">
                <a:solidFill>
                  <a:srgbClr val="E0E0FF"/>
                </a:solidFill>
              </a:rPr>
              <a:t>,
</a:t>
            </a:r>
            <a:r>
              <a:rPr sz="1200" b="0" i="0" dirty="0" err="1">
                <a:solidFill>
                  <a:srgbClr val="E0E0FF"/>
                </a:solidFill>
              </a:rPr>
              <a:t>cronophage</a:t>
            </a:r>
            <a:r>
              <a:rPr sz="1200" b="0" i="0" dirty="0">
                <a:solidFill>
                  <a:srgbClr val="E0E0FF"/>
                </a:solidFill>
              </a:rPr>
              <a:t> et </a:t>
            </a:r>
            <a:r>
              <a:rPr sz="1200" b="0" i="0" dirty="0" err="1">
                <a:solidFill>
                  <a:srgbClr val="E0E0FF"/>
                </a:solidFill>
              </a:rPr>
              <a:t>sujette</a:t>
            </a:r>
            <a:r>
              <a:rPr sz="1200" b="0" i="0" dirty="0">
                <a:solidFill>
                  <a:srgbClr val="E0E0FF"/>
                </a:solidFill>
              </a:rPr>
              <a:t> aux </a:t>
            </a:r>
            <a:r>
              <a:rPr sz="1200" b="0" i="0" dirty="0" err="1">
                <a:solidFill>
                  <a:srgbClr val="E0E0FF"/>
                </a:solidFill>
              </a:rPr>
              <a:t>erreurs</a:t>
            </a:r>
            <a:r>
              <a:rPr sz="1200" b="0" i="0" dirty="0">
                <a:solidFill>
                  <a:srgbClr val="E0E0FF"/>
                </a:solidFill>
              </a:rPr>
              <a:t>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24912"/>
            <a:ext cx="36576" cy="4572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2679192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0FF"/>
                </a:solidFill>
              </a:rPr>
              <a:t>Les patients doivent appeler, attendre et oublient parfois leurs créneaux.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38144"/>
            <a:ext cx="36576" cy="4572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392424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0E0FF"/>
                </a:solidFill>
              </a:rPr>
              <a:t>Les secrétaires gèrent des agendas papier difficiles à maintenir.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151376"/>
            <a:ext cx="36576" cy="4572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4105656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E0E0FF"/>
                </a:solidFill>
              </a:rPr>
              <a:t>Le </a:t>
            </a:r>
            <a:r>
              <a:rPr sz="1200" b="0" i="0" dirty="0" err="1">
                <a:solidFill>
                  <a:srgbClr val="E0E0FF"/>
                </a:solidFill>
              </a:rPr>
              <a:t>secteur</a:t>
            </a:r>
            <a:r>
              <a:rPr sz="1200" b="0" i="0" dirty="0">
                <a:solidFill>
                  <a:srgbClr val="E0E0FF"/>
                </a:solidFill>
              </a:rPr>
              <a:t> </a:t>
            </a:r>
            <a:r>
              <a:rPr sz="1200" b="0" i="0" dirty="0" err="1">
                <a:solidFill>
                  <a:srgbClr val="E0E0FF"/>
                </a:solidFill>
              </a:rPr>
              <a:t>médical</a:t>
            </a:r>
            <a:r>
              <a:rPr sz="1200" b="0" i="0" dirty="0">
                <a:solidFill>
                  <a:srgbClr val="E0E0FF"/>
                </a:solidFill>
              </a:rPr>
              <a:t> a </a:t>
            </a:r>
            <a:r>
              <a:rPr sz="1200" b="0" i="0" dirty="0" err="1">
                <a:solidFill>
                  <a:srgbClr val="E0E0FF"/>
                </a:solidFill>
              </a:rPr>
              <a:t>besoin</a:t>
            </a:r>
            <a:r>
              <a:rPr sz="1200" b="0" i="0" dirty="0">
                <a:solidFill>
                  <a:srgbClr val="E0E0FF"/>
                </a:solidFill>
              </a:rPr>
              <a:t> de </a:t>
            </a:r>
            <a:r>
              <a:rPr sz="1200" b="0" i="0" dirty="0" err="1">
                <a:solidFill>
                  <a:srgbClr val="E0E0FF"/>
                </a:solidFill>
              </a:rPr>
              <a:t>sa</a:t>
            </a:r>
            <a:r>
              <a:rPr sz="1200" b="0" i="0" dirty="0">
                <a:solidFill>
                  <a:srgbClr val="E0E0FF"/>
                </a:solidFill>
              </a:rPr>
              <a:t> transformation numérique.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417320"/>
            <a:ext cx="562356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1417320"/>
            <a:ext cx="5623560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1508760"/>
            <a:ext cx="53949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3C623"/>
                </a:solidFill>
              </a:rPr>
              <a:t>  </a:t>
            </a:r>
            <a:r>
              <a:rPr sz="1400" b="1" i="0" dirty="0" err="1">
                <a:solidFill>
                  <a:srgbClr val="F3C623"/>
                </a:solidFill>
              </a:rPr>
              <a:t>Objectifs</a:t>
            </a:r>
            <a:endParaRPr sz="1400" b="1" i="0" dirty="0">
              <a:solidFill>
                <a:srgbClr val="F3C623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355080" y="2011680"/>
            <a:ext cx="5303520" cy="65836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55080" y="2011680"/>
            <a:ext cx="54864" cy="658368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92240" y="206654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C623"/>
                </a:solidFill>
              </a:rPr>
              <a:t>Développer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34086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A0C0"/>
                </a:solidFill>
              </a:rPr>
              <a:t>une app web full-stack de gestion de RDV médicaux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2788920"/>
            <a:ext cx="5303520" cy="65836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55080" y="2788920"/>
            <a:ext cx="54864" cy="658368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92240" y="28437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C623"/>
                </a:solidFill>
              </a:rPr>
              <a:t>Implémenter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11810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A0C0"/>
                </a:solidFill>
              </a:rPr>
              <a:t>un système multi-rôles complet (Patient / Médecin / Secrétaire)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3566160"/>
            <a:ext cx="5303520" cy="65836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55080" y="3566160"/>
            <a:ext cx="54864" cy="658368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92240" y="36210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C623"/>
                </a:solidFill>
              </a:rPr>
              <a:t>Concevoir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89534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A0C0"/>
                </a:solidFill>
              </a:rPr>
              <a:t>une API RESTful sécurisée avec Laravel Sanctum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4343400"/>
            <a:ext cx="5303520" cy="65836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355080" y="4343400"/>
            <a:ext cx="54864" cy="658368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92240" y="439826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C623"/>
                </a:solidFill>
              </a:rPr>
              <a:t>Créer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467258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A0C0"/>
                </a:solidFill>
              </a:rPr>
              <a:t>une interface React moderne, réactive et intuitive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5120640"/>
            <a:ext cx="5303520" cy="65836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355080" y="5120640"/>
            <a:ext cx="54864" cy="658368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92240" y="5175503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C623"/>
                </a:solidFill>
              </a:rPr>
              <a:t>Maîtriser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4498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A0C0"/>
                </a:solidFill>
              </a:rPr>
              <a:t>les bonnes pratiques du développement web professionnel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Présentation du Projet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Qui utilise l'application ?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828800" cy="54864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76272" y="118872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41732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Une plateforme médicale connectant Patients, Médecins et Secrétaires autour de la gestion intelligente des rendez-vous.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057400"/>
            <a:ext cx="3749039" cy="4480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3749039" cy="73152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0040" y="2057400"/>
            <a:ext cx="3749039" cy="6400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2121408"/>
            <a:ext cx="3474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dirty="0">
                <a:solidFill>
                  <a:srgbClr val="00D2BF"/>
                </a:solidFill>
              </a:rPr>
              <a:t>  Patient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788920"/>
            <a:ext cx="3474720" cy="16491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Inscription &amp; </a:t>
            </a:r>
            <a:r>
              <a:rPr sz="1200" dirty="0" err="1">
                <a:solidFill>
                  <a:srgbClr val="E0E0FF"/>
                </a:solidFill>
              </a:rPr>
              <a:t>connexion</a:t>
            </a:r>
            <a:r>
              <a:rPr sz="1200" dirty="0">
                <a:solidFill>
                  <a:srgbClr val="E0E0FF"/>
                </a:solidFill>
              </a:rPr>
              <a:t> </a:t>
            </a:r>
            <a:r>
              <a:rPr sz="1200" dirty="0" err="1">
                <a:solidFill>
                  <a:srgbClr val="E0E0FF"/>
                </a:solidFill>
              </a:rPr>
              <a:t>sécurisée</a:t>
            </a:r>
            <a:endParaRPr sz="1200" dirty="0">
              <a:solidFill>
                <a:srgbClr val="E0E0FF"/>
              </a:solidFill>
            </a:endParaRPr>
          </a:p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Consulter les services </a:t>
            </a:r>
            <a:r>
              <a:rPr sz="1200" dirty="0" err="1">
                <a:solidFill>
                  <a:srgbClr val="E0E0FF"/>
                </a:solidFill>
              </a:rPr>
              <a:t>disponibles</a:t>
            </a:r>
            <a:endParaRPr sz="1200" dirty="0">
              <a:solidFill>
                <a:srgbClr val="E0E0FF"/>
              </a:solidFill>
            </a:endParaRPr>
          </a:p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Prendre un RDV </a:t>
            </a:r>
            <a:r>
              <a:rPr sz="1200" dirty="0" err="1">
                <a:solidFill>
                  <a:srgbClr val="E0E0FF"/>
                </a:solidFill>
              </a:rPr>
              <a:t>en</a:t>
            </a:r>
            <a:r>
              <a:rPr sz="1200" dirty="0">
                <a:solidFill>
                  <a:srgbClr val="E0E0FF"/>
                </a:solidFill>
              </a:rPr>
              <a:t> </a:t>
            </a:r>
            <a:r>
              <a:rPr sz="1200" dirty="0" err="1">
                <a:solidFill>
                  <a:srgbClr val="E0E0FF"/>
                </a:solidFill>
              </a:rPr>
              <a:t>ligne</a:t>
            </a:r>
            <a:endParaRPr sz="1200" dirty="0">
              <a:solidFill>
                <a:srgbClr val="E0E0FF"/>
              </a:solidFill>
            </a:endParaRPr>
          </a:p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</a:t>
            </a:r>
            <a:r>
              <a:rPr sz="1200" dirty="0" err="1">
                <a:solidFill>
                  <a:srgbClr val="E0E0FF"/>
                </a:solidFill>
              </a:rPr>
              <a:t>Suivre</a:t>
            </a:r>
            <a:r>
              <a:rPr sz="1200" dirty="0">
                <a:solidFill>
                  <a:srgbClr val="E0E0FF"/>
                </a:solidFill>
              </a:rPr>
              <a:t> le </a:t>
            </a:r>
            <a:r>
              <a:rPr sz="1200" dirty="0" err="1">
                <a:solidFill>
                  <a:srgbClr val="E0E0FF"/>
                </a:solidFill>
              </a:rPr>
              <a:t>statut</a:t>
            </a:r>
            <a:r>
              <a:rPr sz="1200" dirty="0">
                <a:solidFill>
                  <a:srgbClr val="E0E0FF"/>
                </a:solidFill>
              </a:rPr>
              <a:t> (</a:t>
            </a:r>
            <a:r>
              <a:rPr sz="1200" dirty="0" err="1">
                <a:solidFill>
                  <a:srgbClr val="E0E0FF"/>
                </a:solidFill>
              </a:rPr>
              <a:t>en</a:t>
            </a:r>
            <a:r>
              <a:rPr sz="1200" dirty="0">
                <a:solidFill>
                  <a:srgbClr val="E0E0FF"/>
                </a:solidFill>
              </a:rPr>
              <a:t> </a:t>
            </a:r>
            <a:r>
              <a:rPr sz="1200" dirty="0" err="1">
                <a:solidFill>
                  <a:srgbClr val="E0E0FF"/>
                </a:solidFill>
              </a:rPr>
              <a:t>attente</a:t>
            </a:r>
            <a:r>
              <a:rPr sz="1200" dirty="0">
                <a:solidFill>
                  <a:srgbClr val="E0E0FF"/>
                </a:solidFill>
              </a:rPr>
              <a:t> / </a:t>
            </a:r>
            <a:r>
              <a:rPr sz="1200" dirty="0" err="1">
                <a:solidFill>
                  <a:srgbClr val="E0E0FF"/>
                </a:solidFill>
              </a:rPr>
              <a:t>confirmé</a:t>
            </a:r>
            <a:r>
              <a:rPr sz="1200" dirty="0">
                <a:solidFill>
                  <a:srgbClr val="E0E0FF"/>
                </a:solidFill>
              </a:rPr>
              <a:t> / </a:t>
            </a:r>
            <a:r>
              <a:rPr sz="1200" dirty="0" err="1">
                <a:solidFill>
                  <a:srgbClr val="E0E0FF"/>
                </a:solidFill>
              </a:rPr>
              <a:t>annulé</a:t>
            </a:r>
            <a:r>
              <a:rPr sz="1200" dirty="0">
                <a:solidFill>
                  <a:srgbClr val="E0E0FF"/>
                </a:solidFill>
              </a:rPr>
              <a:t>)</a:t>
            </a:r>
          </a:p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</a:t>
            </a:r>
            <a:r>
              <a:rPr sz="1200" dirty="0" err="1">
                <a:solidFill>
                  <a:srgbClr val="E0E0FF"/>
                </a:solidFill>
              </a:rPr>
              <a:t>Annuler</a:t>
            </a:r>
            <a:r>
              <a:rPr sz="1200" dirty="0">
                <a:solidFill>
                  <a:srgbClr val="E0E0FF"/>
                </a:solidFill>
              </a:rPr>
              <a:t> un RDV</a:t>
            </a:r>
          </a:p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Modifier son </a:t>
            </a:r>
            <a:r>
              <a:rPr sz="1200" dirty="0" err="1">
                <a:solidFill>
                  <a:srgbClr val="E0E0FF"/>
                </a:solidFill>
              </a:rPr>
              <a:t>profil</a:t>
            </a:r>
            <a:endParaRPr sz="1200" dirty="0">
              <a:solidFill>
                <a:srgbClr val="E0E0FF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270248" y="2057400"/>
            <a:ext cx="3749039" cy="4480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70248" y="2057400"/>
            <a:ext cx="3749039" cy="7315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70248" y="2057400"/>
            <a:ext cx="3749039" cy="6400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07408" y="2121408"/>
            <a:ext cx="3474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dirty="0">
                <a:solidFill>
                  <a:srgbClr val="9B59B6"/>
                </a:solidFill>
              </a:rPr>
              <a:t> Médecin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2788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</a:t>
            </a:r>
            <a:r>
              <a:rPr sz="1200" dirty="0" err="1">
                <a:solidFill>
                  <a:srgbClr val="E0E0FF"/>
                </a:solidFill>
              </a:rPr>
              <a:t>Créer</a:t>
            </a:r>
            <a:r>
              <a:rPr sz="1200" dirty="0">
                <a:solidFill>
                  <a:srgbClr val="E0E0FF"/>
                </a:solidFill>
              </a:rPr>
              <a:t> &amp; </a:t>
            </a:r>
            <a:r>
              <a:rPr sz="1200" dirty="0" err="1">
                <a:solidFill>
                  <a:srgbClr val="E0E0FF"/>
                </a:solidFill>
              </a:rPr>
              <a:t>gérer</a:t>
            </a:r>
            <a:r>
              <a:rPr sz="1200" dirty="0">
                <a:solidFill>
                  <a:srgbClr val="E0E0FF"/>
                </a:solidFill>
              </a:rPr>
              <a:t> son </a:t>
            </a:r>
            <a:r>
              <a:rPr sz="1200" dirty="0" err="1">
                <a:solidFill>
                  <a:srgbClr val="E0E0FF"/>
                </a:solidFill>
              </a:rPr>
              <a:t>profil</a:t>
            </a:r>
            <a:r>
              <a:rPr sz="1200" dirty="0">
                <a:solidFill>
                  <a:srgbClr val="E0E0FF"/>
                </a:solidFill>
              </a:rPr>
              <a:t> </a:t>
            </a:r>
            <a:r>
              <a:rPr sz="1200" dirty="0" err="1">
                <a:solidFill>
                  <a:srgbClr val="E0E0FF"/>
                </a:solidFill>
              </a:rPr>
              <a:t>médical</a:t>
            </a:r>
            <a:endParaRPr sz="1200" dirty="0">
              <a:solidFill>
                <a:srgbClr val="E0E0FF"/>
              </a:solidFill>
            </a:endParaRPr>
          </a:p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</a:t>
            </a:r>
            <a:r>
              <a:rPr sz="1200" dirty="0" err="1">
                <a:solidFill>
                  <a:srgbClr val="E0E0FF"/>
                </a:solidFill>
              </a:rPr>
              <a:t>Définir</a:t>
            </a:r>
            <a:r>
              <a:rPr sz="1200" dirty="0">
                <a:solidFill>
                  <a:srgbClr val="E0E0FF"/>
                </a:solidFill>
              </a:rPr>
              <a:t> </a:t>
            </a:r>
            <a:r>
              <a:rPr sz="1200" dirty="0" err="1">
                <a:solidFill>
                  <a:srgbClr val="E0E0FF"/>
                </a:solidFill>
              </a:rPr>
              <a:t>ses</a:t>
            </a:r>
            <a:r>
              <a:rPr sz="1200" dirty="0">
                <a:solidFill>
                  <a:srgbClr val="E0E0FF"/>
                </a:solidFill>
              </a:rPr>
              <a:t> services (nom, durée, prix)</a:t>
            </a:r>
          </a:p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</a:t>
            </a:r>
            <a:r>
              <a:rPr sz="1200" dirty="0" err="1">
                <a:solidFill>
                  <a:srgbClr val="E0E0FF"/>
                </a:solidFill>
              </a:rPr>
              <a:t>Créer</a:t>
            </a:r>
            <a:r>
              <a:rPr sz="1200" dirty="0">
                <a:solidFill>
                  <a:srgbClr val="E0E0FF"/>
                </a:solidFill>
              </a:rPr>
              <a:t> </a:t>
            </a:r>
            <a:r>
              <a:rPr sz="1200" dirty="0" err="1">
                <a:solidFill>
                  <a:srgbClr val="E0E0FF"/>
                </a:solidFill>
              </a:rPr>
              <a:t>ses</a:t>
            </a:r>
            <a:r>
              <a:rPr sz="1200" dirty="0">
                <a:solidFill>
                  <a:srgbClr val="E0E0FF"/>
                </a:solidFill>
              </a:rPr>
              <a:t> </a:t>
            </a:r>
            <a:r>
              <a:rPr sz="1200" dirty="0" err="1">
                <a:solidFill>
                  <a:srgbClr val="E0E0FF"/>
                </a:solidFill>
              </a:rPr>
              <a:t>créneaux</a:t>
            </a:r>
            <a:r>
              <a:rPr sz="1200" dirty="0">
                <a:solidFill>
                  <a:srgbClr val="E0E0FF"/>
                </a:solidFill>
              </a:rPr>
              <a:t> </a:t>
            </a:r>
            <a:r>
              <a:rPr sz="1200" dirty="0" err="1">
                <a:solidFill>
                  <a:srgbClr val="E0E0FF"/>
                </a:solidFill>
              </a:rPr>
              <a:t>horaires</a:t>
            </a:r>
            <a:endParaRPr sz="1200" dirty="0">
              <a:solidFill>
                <a:srgbClr val="E0E0FF"/>
              </a:solidFill>
            </a:endParaRPr>
          </a:p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Vue </a:t>
            </a:r>
            <a:r>
              <a:rPr sz="1200" dirty="0" err="1">
                <a:solidFill>
                  <a:srgbClr val="E0E0FF"/>
                </a:solidFill>
              </a:rPr>
              <a:t>calendrier</a:t>
            </a:r>
            <a:r>
              <a:rPr sz="1200" dirty="0">
                <a:solidFill>
                  <a:srgbClr val="E0E0FF"/>
                </a:solidFill>
              </a:rPr>
              <a:t> interactive</a:t>
            </a:r>
          </a:p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</a:t>
            </a:r>
            <a:r>
              <a:rPr sz="1200" dirty="0" err="1">
                <a:solidFill>
                  <a:srgbClr val="E0E0FF"/>
                </a:solidFill>
              </a:rPr>
              <a:t>Créer</a:t>
            </a:r>
            <a:r>
              <a:rPr sz="1200" dirty="0">
                <a:solidFill>
                  <a:srgbClr val="E0E0FF"/>
                </a:solidFill>
              </a:rPr>
              <a:t> un compte </a:t>
            </a:r>
            <a:r>
              <a:rPr sz="1200" dirty="0" err="1">
                <a:solidFill>
                  <a:srgbClr val="E0E0FF"/>
                </a:solidFill>
              </a:rPr>
              <a:t>secrétaire</a:t>
            </a:r>
            <a:endParaRPr sz="1200" dirty="0">
              <a:solidFill>
                <a:srgbClr val="E0E0FF"/>
              </a:solidFill>
            </a:endParaRPr>
          </a:p>
          <a:p>
            <a:pPr>
              <a:spcBef>
                <a:spcPts val="700"/>
              </a:spcBef>
            </a:pPr>
            <a:r>
              <a:rPr sz="1200" dirty="0">
                <a:solidFill>
                  <a:srgbClr val="E0E0FF"/>
                </a:solidFill>
              </a:rPr>
              <a:t>›  Voir </a:t>
            </a:r>
            <a:r>
              <a:rPr sz="1200" dirty="0" err="1">
                <a:solidFill>
                  <a:srgbClr val="E0E0FF"/>
                </a:solidFill>
              </a:rPr>
              <a:t>tous</a:t>
            </a:r>
            <a:r>
              <a:rPr sz="1200" dirty="0">
                <a:solidFill>
                  <a:srgbClr val="E0E0FF"/>
                </a:solidFill>
              </a:rPr>
              <a:t> </a:t>
            </a:r>
            <a:r>
              <a:rPr sz="1200" dirty="0" err="1">
                <a:solidFill>
                  <a:srgbClr val="E0E0FF"/>
                </a:solidFill>
              </a:rPr>
              <a:t>ses</a:t>
            </a:r>
            <a:r>
              <a:rPr sz="1200" dirty="0">
                <a:solidFill>
                  <a:srgbClr val="E0E0FF"/>
                </a:solidFill>
              </a:rPr>
              <a:t> RDV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0456" y="2057400"/>
            <a:ext cx="3749039" cy="44805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20456" y="2057400"/>
            <a:ext cx="3749039" cy="73152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220456" y="2057400"/>
            <a:ext cx="3749039" cy="6400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57616" y="2121408"/>
            <a:ext cx="3474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1" i="0" dirty="0">
                <a:solidFill>
                  <a:srgbClr val="F3C623"/>
                </a:solidFill>
              </a:rPr>
              <a:t> </a:t>
            </a:r>
            <a:r>
              <a:rPr sz="1800" b="1" i="0" dirty="0" err="1">
                <a:solidFill>
                  <a:srgbClr val="F3C623"/>
                </a:solidFill>
              </a:rPr>
              <a:t>Secrétaire</a:t>
            </a:r>
            <a:endParaRPr sz="1800" b="1" i="0" dirty="0">
              <a:solidFill>
                <a:srgbClr val="F3C623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357616" y="27889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E0E0FF"/>
                </a:solidFill>
              </a:rPr>
              <a:t>›  Voir la liste de tous les patients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E0E0FF"/>
                </a:solidFill>
              </a:rPr>
              <a:t>›  Gérer tous les rendez-vous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E0E0FF"/>
                </a:solidFill>
              </a:rPr>
              <a:t>›  Confirmer des RDV en attente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E0E0FF"/>
                </a:solidFill>
              </a:rPr>
              <a:t>›  Annuler ou supprimer des RDV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E0E0FF"/>
                </a:solidFill>
              </a:rPr>
              <a:t>›  Assistance administrative complète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E0E0FF"/>
                </a:solidFill>
              </a:rPr>
              <a:t>›  Interface dédiée et sécurisée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Architecture Technique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Architecture 3-Tiers — SPA + REST API + BDD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828800" cy="54864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76272" y="118872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463040"/>
            <a:ext cx="365760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463040"/>
            <a:ext cx="3657600" cy="73152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" y="1463040"/>
            <a:ext cx="365760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153619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0D2BF"/>
                </a:solidFill>
              </a:rPr>
              <a:t>FRONTEND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86537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C0"/>
                </a:solidFill>
              </a:rPr>
              <a:t>Client React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377440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React 19  (SPA)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Redux Toolkit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</a:t>
            </a:r>
            <a:r>
              <a:rPr sz="1250" dirty="0" err="1">
                <a:solidFill>
                  <a:srgbClr val="E0E0FF"/>
                </a:solidFill>
              </a:rPr>
              <a:t>TailwindCSS</a:t>
            </a:r>
            <a:r>
              <a:rPr sz="1250" dirty="0">
                <a:solidFill>
                  <a:srgbClr val="E0E0FF"/>
                </a:solidFill>
              </a:rPr>
              <a:t> 4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React Router DOM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Axios HTTP Client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</a:t>
            </a:r>
            <a:r>
              <a:rPr sz="1250" dirty="0" err="1">
                <a:solidFill>
                  <a:srgbClr val="E0E0FF"/>
                </a:solidFill>
              </a:rPr>
              <a:t>FullCalendar</a:t>
            </a:r>
            <a:r>
              <a:rPr sz="1250" dirty="0">
                <a:solidFill>
                  <a:srgbClr val="E0E0FF"/>
                </a:solidFill>
              </a:rPr>
              <a:t> 6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Vite 8 (build)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1463040"/>
            <a:ext cx="365760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70248" y="1463040"/>
            <a:ext cx="3657600" cy="7315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270248" y="1463040"/>
            <a:ext cx="365760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56048" y="153619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9B6"/>
                </a:solidFill>
              </a:rPr>
              <a:t>BACKEND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186537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C0"/>
                </a:solidFill>
              </a:rPr>
              <a:t>API Laravel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8" y="2377440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Laravel 12  (PHP 8.2)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Laravel Sanctum (auth)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Eloquent ORM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7 </a:t>
            </a:r>
            <a:r>
              <a:rPr sz="1250" dirty="0" err="1">
                <a:solidFill>
                  <a:srgbClr val="E0E0FF"/>
                </a:solidFill>
              </a:rPr>
              <a:t>Contrôleurs</a:t>
            </a:r>
            <a:endParaRPr sz="1250" dirty="0">
              <a:solidFill>
                <a:srgbClr val="E0E0FF"/>
              </a:solidFill>
            </a:endParaRP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7 </a:t>
            </a:r>
            <a:r>
              <a:rPr sz="1250" dirty="0" err="1">
                <a:solidFill>
                  <a:srgbClr val="E0E0FF"/>
                </a:solidFill>
              </a:rPr>
              <a:t>Modèles</a:t>
            </a:r>
            <a:r>
              <a:rPr sz="1250" dirty="0">
                <a:solidFill>
                  <a:srgbClr val="E0E0FF"/>
                </a:solidFill>
              </a:rPr>
              <a:t> Eloquent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50+ Routes API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Middleware RBAC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0456" y="1463040"/>
            <a:ext cx="365760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220456" y="1463040"/>
            <a:ext cx="3657600" cy="73152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20456" y="1463040"/>
            <a:ext cx="365760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06256" y="153619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C623"/>
                </a:solidFill>
              </a:rPr>
              <a:t>DATABASE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06256" y="186537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C0"/>
                </a:solidFill>
              </a:rPr>
              <a:t>Données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03336" y="2430511"/>
            <a:ext cx="329184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SQLite / MySQL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8 Migrations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7 Tables </a:t>
            </a:r>
            <a:r>
              <a:rPr sz="1250" dirty="0" err="1">
                <a:solidFill>
                  <a:srgbClr val="E0E0FF"/>
                </a:solidFill>
              </a:rPr>
              <a:t>relationnelles</a:t>
            </a:r>
            <a:endParaRPr sz="1250" dirty="0">
              <a:solidFill>
                <a:srgbClr val="E0E0FF"/>
              </a:solidFill>
            </a:endParaRP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</a:t>
            </a:r>
            <a:r>
              <a:rPr sz="1250" dirty="0" err="1">
                <a:solidFill>
                  <a:srgbClr val="E0E0FF"/>
                </a:solidFill>
              </a:rPr>
              <a:t>Clés</a:t>
            </a:r>
            <a:r>
              <a:rPr sz="1250" dirty="0">
                <a:solidFill>
                  <a:srgbClr val="E0E0FF"/>
                </a:solidFill>
              </a:rPr>
              <a:t> </a:t>
            </a:r>
            <a:r>
              <a:rPr sz="1250" dirty="0" err="1">
                <a:solidFill>
                  <a:srgbClr val="E0E0FF"/>
                </a:solidFill>
              </a:rPr>
              <a:t>étrangères</a:t>
            </a:r>
            <a:r>
              <a:rPr sz="1250" dirty="0">
                <a:solidFill>
                  <a:srgbClr val="E0E0FF"/>
                </a:solidFill>
              </a:rPr>
              <a:t> (FK)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Factories &amp; Seeders</a:t>
            </a:r>
          </a:p>
          <a:p>
            <a:pPr>
              <a:spcBef>
                <a:spcPts val="600"/>
              </a:spcBef>
            </a:pPr>
            <a:r>
              <a:rPr sz="1250" dirty="0">
                <a:solidFill>
                  <a:srgbClr val="E0E0FF"/>
                </a:solidFill>
              </a:rPr>
              <a:t>▸  Timestamps auto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95928" y="347472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3C623"/>
                </a:solidFill>
              </a:rPr>
              <a:t>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95928" y="397763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HTTP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347472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3C623"/>
                </a:solidFill>
              </a:rPr>
              <a:t>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397763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Stack Technologique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Technologies utilisées dans ce projet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828800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76272" y="118872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2176272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2176272" cy="73152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600200"/>
            <a:ext cx="1005840" cy="256032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048" y="1618488"/>
            <a:ext cx="9692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dirty="0">
                <a:solidFill>
                  <a:srgbClr val="0F0F1A"/>
                </a:solidFill>
              </a:rPr>
              <a:t>Frontend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659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React 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46888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0A0C0"/>
                </a:solidFill>
              </a:rPr>
              <a:t>Interface utilisateur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15184" y="1463040"/>
            <a:ext cx="2176272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615184" y="1463040"/>
            <a:ext cx="2176272" cy="7315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706624" y="1600200"/>
            <a:ext cx="1005840" cy="25603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24912" y="1618488"/>
            <a:ext cx="9692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F0F1A"/>
                </a:solidFill>
              </a:rPr>
              <a:t>Backend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6624" y="19659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Laravel 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06624" y="246888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0A0C0"/>
                </a:solidFill>
              </a:rPr>
              <a:t>Framework PHP backend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56048" y="1463040"/>
            <a:ext cx="2176272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956048" y="1463040"/>
            <a:ext cx="217627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047488" y="1600200"/>
            <a:ext cx="1005840" cy="2560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65776" y="1618488"/>
            <a:ext cx="9692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F0F1A"/>
                </a:solidFill>
              </a:rPr>
              <a:t>Frontend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19659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TailwindCSS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47488" y="246888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0A0C0"/>
                </a:solidFill>
              </a:rPr>
              <a:t>Styles utilitaires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1463040"/>
            <a:ext cx="2176272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296912" y="1463040"/>
            <a:ext cx="2176272" cy="73152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388352" y="1600200"/>
            <a:ext cx="1005840" cy="256032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406640" y="1618488"/>
            <a:ext cx="9692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F0F1A"/>
                </a:solidFill>
              </a:rPr>
              <a:t>Frontend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19659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Redux Toolkit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88352" y="246888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0A0C0"/>
                </a:solidFill>
              </a:rPr>
              <a:t>Gestion d'état global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37776" y="1463040"/>
            <a:ext cx="2176272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637776" y="1463040"/>
            <a:ext cx="2176272" cy="73152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729216" y="1600200"/>
            <a:ext cx="1005840" cy="256032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747504" y="1618488"/>
            <a:ext cx="9692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F0F1A"/>
                </a:solidFill>
              </a:rPr>
              <a:t>Sécurité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9216" y="19659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Sanctum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9216" y="246888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0A0C0"/>
                </a:solidFill>
              </a:rPr>
              <a:t>Auth par tokens Bearer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977639"/>
            <a:ext cx="2176272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274320" y="3977639"/>
            <a:ext cx="2176272" cy="73152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365760" y="4114800"/>
            <a:ext cx="1005840" cy="256032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84048" y="4133087"/>
            <a:ext cx="9692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F0F1A"/>
                </a:solidFill>
              </a:rPr>
              <a:t>Frontend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448055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FullCalendar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4983479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0A0C0"/>
                </a:solidFill>
              </a:rPr>
              <a:t>Calendrier interactif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15184" y="3977639"/>
            <a:ext cx="2176272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2615184" y="3977639"/>
            <a:ext cx="2176272" cy="73152"/>
          </a:xfrm>
          <a:prstGeom prst="rect">
            <a:avLst/>
          </a:prstGeom>
          <a:solidFill>
            <a:srgbClr val="671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2706624" y="4114800"/>
            <a:ext cx="1005840" cy="256032"/>
          </a:xfrm>
          <a:prstGeom prst="rect">
            <a:avLst/>
          </a:prstGeom>
          <a:solidFill>
            <a:srgbClr val="671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724912" y="4133087"/>
            <a:ext cx="9692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F0F1A"/>
                </a:solidFill>
              </a:rPr>
              <a:t>Frontend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06624" y="448055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Axios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06624" y="4983479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0A0C0"/>
                </a:solidFill>
              </a:rPr>
              <a:t>Client HTTP / API calls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56048" y="3977639"/>
            <a:ext cx="2176272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956048" y="3977639"/>
            <a:ext cx="2176272" cy="73152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5047488" y="4114800"/>
            <a:ext cx="1005840" cy="256032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065776" y="4133087"/>
            <a:ext cx="9692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F0F1A"/>
                </a:solidFill>
              </a:rPr>
              <a:t>DevTools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47488" y="448055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Vite 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47488" y="4983479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0A0C0"/>
                </a:solidFill>
              </a:rPr>
              <a:t>Bundler ultra-rapide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296912" y="3977639"/>
            <a:ext cx="2176272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296912" y="3977639"/>
            <a:ext cx="2176272" cy="7315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388352" y="4114800"/>
            <a:ext cx="1005840" cy="2560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406640" y="4133087"/>
            <a:ext cx="9692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F0F1A"/>
                </a:solidFill>
              </a:rPr>
              <a:t>Backend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88352" y="448055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PHP 8.2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88352" y="4983479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0A0C0"/>
                </a:solidFill>
              </a:rPr>
              <a:t>Langage serveur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637776" y="3977639"/>
            <a:ext cx="2176272" cy="2286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9637776" y="3977639"/>
            <a:ext cx="2176272" cy="73152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9729216" y="4114800"/>
            <a:ext cx="1005840" cy="256032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747504" y="4133087"/>
            <a:ext cx="9692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F0F1A"/>
                </a:solidFill>
              </a:rPr>
              <a:t>Backend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29216" y="4480559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</a:rPr>
              <a:t>MySQL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29216" y="4983479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A0A0C0"/>
                </a:solidFill>
              </a:rPr>
              <a:t>Base de données relationnelle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Fonctionnalités Clés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Ce que fait l'application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828800" cy="54864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76272" y="118872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5715000" cy="1508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73152" cy="15087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15544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B59B6"/>
                </a:solidFill>
              </a:rPr>
              <a:t>Auth Multi-Rôle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984248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0E0FF"/>
                </a:solidFill>
              </a:rPr>
              <a:t>Inscription / connexion sécurisée. Trois rôles distincts avec accès séparés. Token Sanctum + localStorage.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463040"/>
            <a:ext cx="5715000" cy="1508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63640" y="1463040"/>
            <a:ext cx="73152" cy="1508760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086600" y="15544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2BF"/>
                </a:solidFill>
              </a:rPr>
              <a:t>Prise de RDV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984248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0E0FF"/>
                </a:solidFill>
              </a:rPr>
              <a:t>Le patient sélectionne médecin, service et créneau. RDV créé avec statut 'en attente' automatiquement.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127248"/>
            <a:ext cx="5715000" cy="1508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74320" y="3127248"/>
            <a:ext cx="73152" cy="1508760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C623"/>
                </a:solidFill>
              </a:rPr>
              <a:t>Gestion Services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648456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0E0FF"/>
                </a:solidFill>
              </a:rPr>
              <a:t>Le médecin crée ses services médicaux (nom, durée en min, prix en DH). Suppression dynamique.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127248"/>
            <a:ext cx="5715000" cy="1508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63640" y="3127248"/>
            <a:ext cx="73152" cy="150876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86600" y="321868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E576"/>
                </a:solidFill>
              </a:rPr>
              <a:t>Créneaux Horaires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3648456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0E0FF"/>
                </a:solidFill>
              </a:rPr>
              <a:t>Création de plages disponibles. Marquage automatique 'indisponible' après réservation.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791456"/>
            <a:ext cx="5715000" cy="1508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74320" y="4791456"/>
            <a:ext cx="73152" cy="1508760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97280" y="488289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384"/>
                </a:solidFill>
              </a:rPr>
              <a:t>Calendrier Visuel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5312664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0E0FF"/>
                </a:solidFill>
              </a:rPr>
              <a:t>Interface FullCalendar pour visualiser les RDV par jour, semaine ou mois. Vue interactive.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4791456"/>
            <a:ext cx="5715000" cy="1508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63640" y="4791456"/>
            <a:ext cx="73152" cy="1508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086600" y="488289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C00"/>
                </a:solidFill>
              </a:rPr>
              <a:t>Gestion Statuts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5312664"/>
            <a:ext cx="4754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0E0FF"/>
                </a:solidFill>
              </a:rPr>
              <a:t>Trois statuts : En attente → Confirmé / Annulé. Secrétaire gère les confirmations.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Base de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Modèle Relationnel — 7 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8288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76272" y="118872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116128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11612880" cy="7315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63040"/>
            <a:ext cx="1234440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160020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9B59B6"/>
                </a:solidFill>
              </a:rPr>
              <a:t>users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1664208"/>
            <a:ext cx="101041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0E0FF"/>
                </a:solidFill>
              </a:rPr>
              <a:t>id · nom · prenom · email · password · role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606040"/>
            <a:ext cx="38404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74320" y="2606040"/>
            <a:ext cx="3840480" cy="73152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74320" y="2606040"/>
            <a:ext cx="1234440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274320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D2BF"/>
                </a:solidFill>
              </a:rPr>
              <a:t>patients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2807208"/>
            <a:ext cx="2331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0E0FF"/>
                </a:solidFill>
              </a:rPr>
              <a:t>id · user_id* · telephone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0" y="2606040"/>
            <a:ext cx="38404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51960" y="2606040"/>
            <a:ext cx="3840480" cy="73152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251960" y="2606040"/>
            <a:ext cx="1234440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43400" y="274320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D2BF"/>
                </a:solidFill>
              </a:rPr>
              <a:t>medecins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807208"/>
            <a:ext cx="2331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0E0FF"/>
                </a:solidFill>
              </a:rPr>
              <a:t>id · user_id* · specialite · adresse · photo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606040"/>
            <a:ext cx="365760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29600" y="2606040"/>
            <a:ext cx="3657600" cy="73152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229600" y="2606040"/>
            <a:ext cx="1234440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21040" y="274320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D2BF"/>
                </a:solidFill>
              </a:rPr>
              <a:t>secretaires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2807208"/>
            <a:ext cx="2148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0E0FF"/>
                </a:solidFill>
              </a:rPr>
              <a:t>id · user_id* · medecin_id*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749039"/>
            <a:ext cx="38404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74320" y="3749039"/>
            <a:ext cx="3840480" cy="73152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74320" y="3749039"/>
            <a:ext cx="1234440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5760" y="388620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3C623"/>
                </a:solidFill>
              </a:rPr>
              <a:t>services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5920" y="3950207"/>
            <a:ext cx="2331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0E0FF"/>
                </a:solidFill>
              </a:rPr>
              <a:t>id · medecin_id* · nom · duree · prix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51960" y="3749039"/>
            <a:ext cx="38404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251960" y="3749039"/>
            <a:ext cx="3840480" cy="73152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251960" y="3749039"/>
            <a:ext cx="1234440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343400" y="388620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E576"/>
                </a:solidFill>
              </a:rPr>
              <a:t>creneaux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950207"/>
            <a:ext cx="2331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0E0FF"/>
                </a:solidFill>
              </a:rPr>
              <a:t>id · medecin_id* · date · heure_debut · heure_fin · disponible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892040"/>
            <a:ext cx="1161288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274320" y="4892040"/>
            <a:ext cx="11612880" cy="7315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74320" y="4892040"/>
            <a:ext cx="1234440" cy="10058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65760" y="502920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8C00"/>
                </a:solidFill>
              </a:rPr>
              <a:t>rendez_vous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45920" y="5093207"/>
            <a:ext cx="101041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0E0FF"/>
                </a:solidFill>
              </a:rPr>
              <a:t>id · patient_id* · service_id* · creneau_id* · date · heure · status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Sécurité &amp; Authentification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Protéger l'API et les routes frontend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828800" cy="54864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76272" y="118872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173736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1737360" cy="64008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" y="1527048"/>
            <a:ext cx="16459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D2BF"/>
                </a:solidFill>
              </a:rPr>
              <a:t>Inscription
/ Connexion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399" y="1737360"/>
            <a:ext cx="2011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A0A0C0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58568" y="1463040"/>
            <a:ext cx="173736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258568" y="1463040"/>
            <a:ext cx="1737360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304287" y="1527048"/>
            <a:ext cx="16459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9B59B6"/>
                </a:solidFill>
              </a:rPr>
              <a:t>Token
Sanctum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41647" y="1737360"/>
            <a:ext cx="2011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A0A0C0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42816" y="1463040"/>
            <a:ext cx="173736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242816" y="1463040"/>
            <a:ext cx="1737360" cy="64008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88536" y="1527048"/>
            <a:ext cx="16459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3C623"/>
                </a:solidFill>
              </a:rPr>
              <a:t>localStorage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25895" y="1737360"/>
            <a:ext cx="2011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A0A0C0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7064" y="1463040"/>
            <a:ext cx="173736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27064" y="1463040"/>
            <a:ext cx="1737360" cy="64008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72783" y="1527048"/>
            <a:ext cx="16459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6384"/>
                </a:solidFill>
              </a:rPr>
              <a:t>Axios
Interceptor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0144" y="1737360"/>
            <a:ext cx="2011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A0A0C0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11312" y="1463040"/>
            <a:ext cx="173736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211312" y="1463040"/>
            <a:ext cx="1737360" cy="64008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57032" y="1527048"/>
            <a:ext cx="16459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0E576"/>
                </a:solidFill>
              </a:rPr>
              <a:t>Bearer
Token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94392" y="1737360"/>
            <a:ext cx="2011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A0A0C0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95560" y="1463040"/>
            <a:ext cx="1737360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0195560" y="1463040"/>
            <a:ext cx="1737360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241280" y="1527048"/>
            <a:ext cx="16459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8C00"/>
                </a:solidFill>
              </a:rPr>
              <a:t>Middleware
Auth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2514600"/>
            <a:ext cx="2834640" cy="4023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74320" y="2514600"/>
            <a:ext cx="2834640" cy="7315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265176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B59B6"/>
                </a:solidFill>
              </a:rPr>
              <a:t>Laravel Sanctum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79" y="3246120"/>
            <a:ext cx="2560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E0E0FF"/>
                </a:solidFill>
              </a:rPr>
              <a:t>Authentification</a:t>
            </a:r>
            <a:r>
              <a:rPr sz="1150" b="0" i="0" dirty="0">
                <a:solidFill>
                  <a:srgbClr val="E0E0FF"/>
                </a:solidFill>
              </a:rPr>
              <a:t> par token Bearer. </a:t>
            </a:r>
            <a:r>
              <a:rPr sz="1150" b="0" i="0" dirty="0" err="1">
                <a:solidFill>
                  <a:srgbClr val="E0E0FF"/>
                </a:solidFill>
              </a:rPr>
              <a:t>Chaque</a:t>
            </a:r>
            <a:r>
              <a:rPr sz="1150" b="0" i="0" dirty="0">
                <a:solidFill>
                  <a:srgbClr val="E0E0FF"/>
                </a:solidFill>
              </a:rPr>
              <a:t> token est </a:t>
            </a:r>
            <a:r>
              <a:rPr sz="1150" b="0" i="0" dirty="0" err="1">
                <a:solidFill>
                  <a:srgbClr val="E0E0FF"/>
                </a:solidFill>
              </a:rPr>
              <a:t>lié</a:t>
            </a:r>
            <a:r>
              <a:rPr sz="1150" b="0" i="0" dirty="0">
                <a:solidFill>
                  <a:srgbClr val="E0E0FF"/>
                </a:solidFill>
              </a:rPr>
              <a:t> à un </a:t>
            </a:r>
            <a:r>
              <a:rPr sz="1150" b="0" i="0" dirty="0" err="1">
                <a:solidFill>
                  <a:srgbClr val="E0E0FF"/>
                </a:solidFill>
              </a:rPr>
              <a:t>utilisateur</a:t>
            </a:r>
            <a:r>
              <a:rPr sz="1150" b="0" i="0" dirty="0">
                <a:solidFill>
                  <a:srgbClr val="E0E0FF"/>
                </a:solidFill>
              </a:rPr>
              <a:t>. </a:t>
            </a:r>
            <a:r>
              <a:rPr sz="1150" b="0" i="0" dirty="0" err="1">
                <a:solidFill>
                  <a:srgbClr val="E0E0FF"/>
                </a:solidFill>
              </a:rPr>
              <a:t>Révocation</a:t>
            </a:r>
            <a:r>
              <a:rPr sz="1150" b="0" i="0" dirty="0">
                <a:solidFill>
                  <a:srgbClr val="E0E0FF"/>
                </a:solidFill>
              </a:rPr>
              <a:t> propre à la </a:t>
            </a:r>
            <a:r>
              <a:rPr sz="1150" b="0" i="0" dirty="0" err="1">
                <a:solidFill>
                  <a:srgbClr val="E0E0FF"/>
                </a:solidFill>
              </a:rPr>
              <a:t>déconnexion</a:t>
            </a:r>
            <a:r>
              <a:rPr sz="1150" b="0" i="0" dirty="0">
                <a:solidFill>
                  <a:srgbClr val="E0E0FF"/>
                </a:solidFill>
              </a:rPr>
              <a:t>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55263" y="2514600"/>
            <a:ext cx="2834640" cy="4023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255263" y="2514600"/>
            <a:ext cx="2834640" cy="73152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986783" y="265176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00D2BF"/>
                </a:solidFill>
              </a:rPr>
              <a:t>bcrypt</a:t>
            </a:r>
            <a:r>
              <a:rPr sz="1300" b="1" i="0" dirty="0">
                <a:solidFill>
                  <a:srgbClr val="00D2BF"/>
                </a:solidFill>
              </a:rPr>
              <a:t>  ×12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92423" y="3246120"/>
            <a:ext cx="2560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E0E0FF"/>
                </a:solidFill>
              </a:rPr>
              <a:t>Hashage</a:t>
            </a:r>
            <a:r>
              <a:rPr sz="1150" b="0" i="0" dirty="0">
                <a:solidFill>
                  <a:srgbClr val="E0E0FF"/>
                </a:solidFill>
              </a:rPr>
              <a:t> des mots de passe avec 12 rounds. </a:t>
            </a:r>
            <a:r>
              <a:rPr sz="1150" b="0" i="0" dirty="0" err="1">
                <a:solidFill>
                  <a:srgbClr val="E0E0FF"/>
                </a:solidFill>
              </a:rPr>
              <a:t>Aucun</a:t>
            </a:r>
            <a:r>
              <a:rPr sz="1150" b="0" i="0" dirty="0">
                <a:solidFill>
                  <a:srgbClr val="E0E0FF"/>
                </a:solidFill>
              </a:rPr>
              <a:t> mot de passe jamais </a:t>
            </a:r>
            <a:r>
              <a:rPr sz="1150" b="0" i="0" dirty="0" err="1">
                <a:solidFill>
                  <a:srgbClr val="E0E0FF"/>
                </a:solidFill>
              </a:rPr>
              <a:t>stocké</a:t>
            </a:r>
            <a:r>
              <a:rPr sz="1150" b="0" i="0" dirty="0">
                <a:solidFill>
                  <a:srgbClr val="E0E0FF"/>
                </a:solidFill>
              </a:rPr>
              <a:t> </a:t>
            </a:r>
            <a:r>
              <a:rPr sz="1150" b="0" i="0" dirty="0" err="1">
                <a:solidFill>
                  <a:srgbClr val="E0E0FF"/>
                </a:solidFill>
              </a:rPr>
              <a:t>en</a:t>
            </a:r>
            <a:r>
              <a:rPr sz="1150" b="0" i="0" dirty="0">
                <a:solidFill>
                  <a:srgbClr val="E0E0FF"/>
                </a:solidFill>
              </a:rPr>
              <a:t> </a:t>
            </a:r>
            <a:r>
              <a:rPr sz="1150" b="0" i="0" dirty="0" err="1">
                <a:solidFill>
                  <a:srgbClr val="E0E0FF"/>
                </a:solidFill>
              </a:rPr>
              <a:t>clair</a:t>
            </a:r>
            <a:r>
              <a:rPr sz="1150" b="0" i="0" dirty="0">
                <a:solidFill>
                  <a:srgbClr val="E0E0FF"/>
                </a:solidFill>
              </a:rPr>
              <a:t> dans la base.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36207" y="2514600"/>
            <a:ext cx="2834640" cy="4023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236207" y="2514600"/>
            <a:ext cx="2834640" cy="73152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67727" y="2651760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C623"/>
                </a:solidFill>
              </a:rPr>
              <a:t>RBAC Complet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52615" y="3246120"/>
            <a:ext cx="2560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E0E0FF"/>
                </a:solidFill>
              </a:rPr>
              <a:t>Trois </a:t>
            </a:r>
            <a:r>
              <a:rPr sz="1150" b="0" i="0" dirty="0" err="1">
                <a:solidFill>
                  <a:srgbClr val="E0E0FF"/>
                </a:solidFill>
              </a:rPr>
              <a:t>rôles</a:t>
            </a:r>
            <a:r>
              <a:rPr sz="1150" b="0" i="0" dirty="0">
                <a:solidFill>
                  <a:srgbClr val="E0E0FF"/>
                </a:solidFill>
              </a:rPr>
              <a:t> : Patient, Médecin, </a:t>
            </a:r>
            <a:r>
              <a:rPr sz="1150" b="0" i="0" dirty="0" err="1">
                <a:solidFill>
                  <a:srgbClr val="E0E0FF"/>
                </a:solidFill>
              </a:rPr>
              <a:t>Secrétaire</a:t>
            </a:r>
            <a:r>
              <a:rPr sz="1150" b="0" i="0" dirty="0">
                <a:solidFill>
                  <a:srgbClr val="E0E0FF"/>
                </a:solidFill>
              </a:rPr>
              <a:t>. Middleware backend + </a:t>
            </a:r>
            <a:r>
              <a:rPr sz="1150" b="0" i="0" dirty="0" err="1">
                <a:solidFill>
                  <a:srgbClr val="E0E0FF"/>
                </a:solidFill>
              </a:rPr>
              <a:t>ProtectedRoutes</a:t>
            </a:r>
            <a:r>
              <a:rPr sz="1150" b="0" i="0" dirty="0">
                <a:solidFill>
                  <a:srgbClr val="E0E0FF"/>
                </a:solidFill>
              </a:rPr>
              <a:t> React pour </a:t>
            </a:r>
            <a:r>
              <a:rPr sz="1150" b="0" i="0" dirty="0" err="1">
                <a:solidFill>
                  <a:srgbClr val="E0E0FF"/>
                </a:solidFill>
              </a:rPr>
              <a:t>sécuriser</a:t>
            </a:r>
            <a:r>
              <a:rPr sz="1150" b="0" i="0" dirty="0">
                <a:solidFill>
                  <a:srgbClr val="E0E0FF"/>
                </a:solidFill>
              </a:rPr>
              <a:t> </a:t>
            </a:r>
            <a:r>
              <a:rPr sz="1150" b="0" i="0" dirty="0" err="1">
                <a:solidFill>
                  <a:srgbClr val="E0E0FF"/>
                </a:solidFill>
              </a:rPr>
              <a:t>chaque</a:t>
            </a:r>
            <a:r>
              <a:rPr sz="1150" b="0" i="0" dirty="0">
                <a:solidFill>
                  <a:srgbClr val="E0E0FF"/>
                </a:solidFill>
              </a:rPr>
              <a:t> </a:t>
            </a:r>
            <a:r>
              <a:rPr sz="1150" b="0" i="0" dirty="0" err="1">
                <a:solidFill>
                  <a:srgbClr val="E0E0FF"/>
                </a:solidFill>
              </a:rPr>
              <a:t>vue</a:t>
            </a:r>
            <a:r>
              <a:rPr sz="1150" b="0" i="0" dirty="0">
                <a:solidFill>
                  <a:srgbClr val="E0E0FF"/>
                </a:solidFill>
              </a:rPr>
              <a:t>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17152" y="2514600"/>
            <a:ext cx="2834640" cy="4023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9217152" y="2514600"/>
            <a:ext cx="2834640" cy="73152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797287" y="2665476"/>
            <a:ext cx="1965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384"/>
                </a:solidFill>
              </a:rPr>
              <a:t>Routes Sécurisées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26880" y="3273552"/>
            <a:ext cx="2560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E0E0FF"/>
                </a:solidFill>
              </a:rPr>
              <a:t>ProtectedRoutes</a:t>
            </a:r>
            <a:r>
              <a:rPr sz="1150" b="0" i="0" dirty="0">
                <a:solidFill>
                  <a:srgbClr val="E0E0FF"/>
                </a:solidFill>
              </a:rPr>
              <a:t> </a:t>
            </a:r>
            <a:r>
              <a:rPr sz="1150" b="0" i="0" dirty="0" err="1">
                <a:solidFill>
                  <a:srgbClr val="E0E0FF"/>
                </a:solidFill>
              </a:rPr>
              <a:t>valide</a:t>
            </a:r>
            <a:r>
              <a:rPr sz="1150" b="0" i="0" dirty="0">
                <a:solidFill>
                  <a:srgbClr val="E0E0FF"/>
                </a:solidFill>
              </a:rPr>
              <a:t> </a:t>
            </a:r>
            <a:r>
              <a:rPr sz="1150" b="0" i="0" dirty="0" err="1">
                <a:solidFill>
                  <a:srgbClr val="E0E0FF"/>
                </a:solidFill>
              </a:rPr>
              <a:t>l'auth</a:t>
            </a:r>
            <a:r>
              <a:rPr sz="1150" b="0" i="0" dirty="0">
                <a:solidFill>
                  <a:srgbClr val="E0E0FF"/>
                </a:solidFill>
              </a:rPr>
              <a:t> ET le </a:t>
            </a:r>
            <a:r>
              <a:rPr sz="1150" b="0" i="0" dirty="0" err="1">
                <a:solidFill>
                  <a:srgbClr val="E0E0FF"/>
                </a:solidFill>
              </a:rPr>
              <a:t>rôle</a:t>
            </a:r>
            <a:r>
              <a:rPr sz="1150" b="0" i="0" dirty="0">
                <a:solidFill>
                  <a:srgbClr val="E0E0FF"/>
                </a:solidFill>
              </a:rPr>
              <a:t>. Redirection </a:t>
            </a:r>
            <a:r>
              <a:rPr sz="1150" b="0" i="0" dirty="0" err="1">
                <a:solidFill>
                  <a:srgbClr val="E0E0FF"/>
                </a:solidFill>
              </a:rPr>
              <a:t>automatique</a:t>
            </a:r>
            <a:r>
              <a:rPr sz="1150" b="0" i="0" dirty="0">
                <a:solidFill>
                  <a:srgbClr val="E0E0FF"/>
                </a:solidFill>
              </a:rPr>
              <a:t> vers Login </a:t>
            </a:r>
            <a:r>
              <a:rPr sz="1150" b="0" i="0" dirty="0" err="1">
                <a:solidFill>
                  <a:srgbClr val="E0E0FF"/>
                </a:solidFill>
              </a:rPr>
              <a:t>si</a:t>
            </a:r>
            <a:r>
              <a:rPr sz="1150" b="0" i="0" dirty="0">
                <a:solidFill>
                  <a:srgbClr val="E0E0FF"/>
                </a:solidFill>
              </a:rPr>
              <a:t> </a:t>
            </a:r>
            <a:r>
              <a:rPr sz="1150" b="0" i="0" dirty="0" err="1">
                <a:solidFill>
                  <a:srgbClr val="E0E0FF"/>
                </a:solidFill>
              </a:rPr>
              <a:t>accès</a:t>
            </a:r>
            <a:r>
              <a:rPr sz="1150" b="0" i="0" dirty="0">
                <a:solidFill>
                  <a:srgbClr val="E0E0FF"/>
                </a:solidFill>
              </a:rPr>
              <a:t> non </a:t>
            </a:r>
            <a:r>
              <a:rPr sz="1150" b="0" i="0" dirty="0" err="1">
                <a:solidFill>
                  <a:srgbClr val="E0E0FF"/>
                </a:solidFill>
              </a:rPr>
              <a:t>autorisé</a:t>
            </a:r>
            <a:r>
              <a:rPr sz="1150" b="0" i="0" dirty="0">
                <a:solidFill>
                  <a:srgbClr val="E0E0FF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API RESTful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Base URL :  http://127.0.0.1:8000/api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828800" cy="54864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76272" y="118872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5577840" cy="73152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63040"/>
            <a:ext cx="5577840" cy="5029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79" y="153619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2BF"/>
                </a:solidFill>
              </a:rPr>
              <a:t>  Routes Publiques  (sans token)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0574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000" b="1">
                <a:solidFill>
                  <a:srgbClr val="00E576"/>
                </a:solidFill>
              </a:rPr>
              <a:t>POST </a:t>
            </a:r>
            <a:r>
              <a:rPr sz="950">
                <a:solidFill>
                  <a:srgbClr val="E0E0FF"/>
                </a:solidFill>
              </a:rPr>
              <a:t>/register  </a:t>
            </a:r>
            <a:r>
              <a:rPr sz="900" i="1">
                <a:solidFill>
                  <a:srgbClr val="A0A0C0"/>
                </a:solidFill>
              </a:rPr>
              <a:t>Inscription patient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E576"/>
                </a:solidFill>
              </a:rPr>
              <a:t>POST </a:t>
            </a:r>
            <a:r>
              <a:rPr sz="950">
                <a:solidFill>
                  <a:srgbClr val="E0E0FF"/>
                </a:solidFill>
              </a:rPr>
              <a:t>/login  </a:t>
            </a:r>
            <a:r>
              <a:rPr sz="900" i="1">
                <a:solidFill>
                  <a:srgbClr val="A0A0C0"/>
                </a:solidFill>
              </a:rPr>
              <a:t>Connexion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E576"/>
                </a:solidFill>
              </a:rPr>
              <a:t>POST </a:t>
            </a:r>
            <a:r>
              <a:rPr sz="950">
                <a:solidFill>
                  <a:srgbClr val="E0E0FF"/>
                </a:solidFill>
              </a:rPr>
              <a:t>/medecin/creer  </a:t>
            </a:r>
            <a:r>
              <a:rPr sz="900" i="1">
                <a:solidFill>
                  <a:srgbClr val="A0A0C0"/>
                </a:solidFill>
              </a:rPr>
              <a:t>Créer compte médecin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D2BF"/>
                </a:solidFill>
              </a:rPr>
              <a:t>GET </a:t>
            </a:r>
            <a:r>
              <a:rPr sz="950">
                <a:solidFill>
                  <a:srgbClr val="E0E0FF"/>
                </a:solidFill>
              </a:rPr>
              <a:t>/medecin/{id}  </a:t>
            </a:r>
            <a:r>
              <a:rPr sz="900" i="1">
                <a:solidFill>
                  <a:srgbClr val="A0A0C0"/>
                </a:solidFill>
              </a:rPr>
              <a:t>Profil médecin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D2BF"/>
                </a:solidFill>
              </a:rPr>
              <a:t>GET </a:t>
            </a:r>
            <a:r>
              <a:rPr sz="950">
                <a:solidFill>
                  <a:srgbClr val="E0E0FF"/>
                </a:solidFill>
              </a:rPr>
              <a:t>/services/{id}  </a:t>
            </a:r>
            <a:r>
              <a:rPr sz="900" i="1">
                <a:solidFill>
                  <a:srgbClr val="A0A0C0"/>
                </a:solidFill>
              </a:rPr>
              <a:t>Services d'un médecin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D2BF"/>
                </a:solidFill>
              </a:rPr>
              <a:t>GET </a:t>
            </a:r>
            <a:r>
              <a:rPr sz="950">
                <a:solidFill>
                  <a:srgbClr val="E0E0FF"/>
                </a:solidFill>
              </a:rPr>
              <a:t>/creneaux/{id}  </a:t>
            </a:r>
            <a:r>
              <a:rPr sz="900" i="1">
                <a:solidFill>
                  <a:srgbClr val="A0A0C0"/>
                </a:solidFill>
              </a:rPr>
              <a:t>Créneaux disponibles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D2BF"/>
                </a:solidFill>
              </a:rPr>
              <a:t>GET </a:t>
            </a:r>
            <a:r>
              <a:rPr sz="950">
                <a:solidFill>
                  <a:srgbClr val="E0E0FF"/>
                </a:solidFill>
              </a:rPr>
              <a:t>/check-email  </a:t>
            </a:r>
            <a:r>
              <a:rPr sz="900" i="1">
                <a:solidFill>
                  <a:srgbClr val="A0A0C0"/>
                </a:solidFill>
              </a:rPr>
              <a:t>Vérif. email existant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463040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63640" y="1463040"/>
            <a:ext cx="5577840" cy="7315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463040"/>
            <a:ext cx="5577840" cy="5029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153619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B6"/>
                </a:solidFill>
              </a:rPr>
              <a:t>  Routes Protégées  (Bearer token requis)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0574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000" b="1">
                <a:solidFill>
                  <a:srgbClr val="00D2BF"/>
                </a:solidFill>
              </a:rPr>
              <a:t>GET </a:t>
            </a:r>
            <a:r>
              <a:rPr sz="950">
                <a:solidFill>
                  <a:srgbClr val="E0E0FF"/>
                </a:solidFill>
              </a:rPr>
              <a:t>/patient/profil  </a:t>
            </a:r>
            <a:r>
              <a:rPr sz="900" i="1">
                <a:solidFill>
                  <a:srgbClr val="A0A0C0"/>
                </a:solidFill>
              </a:rPr>
              <a:t>Mon profil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F3C623"/>
                </a:solidFill>
              </a:rPr>
              <a:t>PUT </a:t>
            </a:r>
            <a:r>
              <a:rPr sz="950">
                <a:solidFill>
                  <a:srgbClr val="E0E0FF"/>
                </a:solidFill>
              </a:rPr>
              <a:t>/patient/modifier  </a:t>
            </a:r>
            <a:r>
              <a:rPr sz="900" i="1">
                <a:solidFill>
                  <a:srgbClr val="A0A0C0"/>
                </a:solidFill>
              </a:rPr>
              <a:t>Modifier profil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E576"/>
                </a:solidFill>
              </a:rPr>
              <a:t>POST </a:t>
            </a:r>
            <a:r>
              <a:rPr sz="950">
                <a:solidFill>
                  <a:srgbClr val="E0E0FF"/>
                </a:solidFill>
              </a:rPr>
              <a:t>/rendez-vous/prendre  </a:t>
            </a:r>
            <a:r>
              <a:rPr sz="900" i="1">
                <a:solidFill>
                  <a:srgbClr val="A0A0C0"/>
                </a:solidFill>
              </a:rPr>
              <a:t>Prendre un RDV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F3C623"/>
                </a:solidFill>
              </a:rPr>
              <a:t>PUT </a:t>
            </a:r>
            <a:r>
              <a:rPr sz="950">
                <a:solidFill>
                  <a:srgbClr val="E0E0FF"/>
                </a:solidFill>
              </a:rPr>
              <a:t>/rendez-vous/annuler/{id}  </a:t>
            </a:r>
            <a:r>
              <a:rPr sz="900" i="1">
                <a:solidFill>
                  <a:srgbClr val="A0A0C0"/>
                </a:solidFill>
              </a:rPr>
              <a:t>Annuler mon RDV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D2BF"/>
                </a:solidFill>
              </a:rPr>
              <a:t>GET </a:t>
            </a:r>
            <a:r>
              <a:rPr sz="950">
                <a:solidFill>
                  <a:srgbClr val="E0E0FF"/>
                </a:solidFill>
              </a:rPr>
              <a:t>/rendez-vous  </a:t>
            </a:r>
            <a:r>
              <a:rPr sz="900" i="1">
                <a:solidFill>
                  <a:srgbClr val="A0A0C0"/>
                </a:solidFill>
              </a:rPr>
              <a:t>Mes RDV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E576"/>
                </a:solidFill>
              </a:rPr>
              <a:t>POST </a:t>
            </a:r>
            <a:r>
              <a:rPr sz="950">
                <a:solidFill>
                  <a:srgbClr val="E0E0FF"/>
                </a:solidFill>
              </a:rPr>
              <a:t>/service/creer  </a:t>
            </a:r>
            <a:r>
              <a:rPr sz="900" i="1">
                <a:solidFill>
                  <a:srgbClr val="A0A0C0"/>
                </a:solidFill>
              </a:rPr>
              <a:t>Créer service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FF6384"/>
                </a:solidFill>
              </a:rPr>
              <a:t>DELETE </a:t>
            </a:r>
            <a:r>
              <a:rPr sz="950">
                <a:solidFill>
                  <a:srgbClr val="E0E0FF"/>
                </a:solidFill>
              </a:rPr>
              <a:t>/service/supprimer/{id}  </a:t>
            </a:r>
            <a:r>
              <a:rPr sz="900" i="1">
                <a:solidFill>
                  <a:srgbClr val="A0A0C0"/>
                </a:solidFill>
              </a:rPr>
              <a:t>Supprimer service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E576"/>
                </a:solidFill>
              </a:rPr>
              <a:t>POST </a:t>
            </a:r>
            <a:r>
              <a:rPr sz="950">
                <a:solidFill>
                  <a:srgbClr val="E0E0FF"/>
                </a:solidFill>
              </a:rPr>
              <a:t>/creneau/creer  </a:t>
            </a:r>
            <a:r>
              <a:rPr sz="900" i="1">
                <a:solidFill>
                  <a:srgbClr val="A0A0C0"/>
                </a:solidFill>
              </a:rPr>
              <a:t>Créer créneau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F3C623"/>
                </a:solidFill>
              </a:rPr>
              <a:t>PUT </a:t>
            </a:r>
            <a:r>
              <a:rPr sz="950">
                <a:solidFill>
                  <a:srgbClr val="E0E0FF"/>
                </a:solidFill>
              </a:rPr>
              <a:t>/secretaire/rdv/confirmer/{id}  </a:t>
            </a:r>
            <a:r>
              <a:rPr sz="900" i="1">
                <a:solidFill>
                  <a:srgbClr val="A0A0C0"/>
                </a:solidFill>
              </a:rPr>
              <a:t>Confirmer RDV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FF6384"/>
                </a:solidFill>
              </a:rPr>
              <a:t>DELETE </a:t>
            </a:r>
            <a:r>
              <a:rPr sz="950">
                <a:solidFill>
                  <a:srgbClr val="E0E0FF"/>
                </a:solidFill>
              </a:rPr>
              <a:t>/secretaire/rdv/supprimer/{id}  </a:t>
            </a:r>
            <a:r>
              <a:rPr sz="900" i="1">
                <a:solidFill>
                  <a:srgbClr val="A0A0C0"/>
                </a:solidFill>
              </a:rPr>
              <a:t>Supprimer RDV</a:t>
            </a:r>
          </a:p>
          <a:p>
            <a:pPr>
              <a:spcBef>
                <a:spcPts val="500"/>
              </a:spcBef>
            </a:pPr>
            <a:r>
              <a:rPr sz="1000" b="1">
                <a:solidFill>
                  <a:srgbClr val="00E576"/>
                </a:solidFill>
              </a:rPr>
              <a:t>POST </a:t>
            </a:r>
            <a:r>
              <a:rPr sz="950">
                <a:solidFill>
                  <a:srgbClr val="E0E0FF"/>
                </a:solidFill>
              </a:rPr>
              <a:t>/logout  </a:t>
            </a:r>
            <a:r>
              <a:rPr sz="900" i="1">
                <a:solidFill>
                  <a:srgbClr val="A0A0C0"/>
                </a:solidFill>
              </a:rPr>
              <a:t>Déconnexion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Interface Utilisateur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Single Page Application — React + TailwindCSS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828800" cy="54864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76272" y="118872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41732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0A0C0"/>
                </a:solidFill>
              </a:rPr>
              <a:t>Navigation fluide avec React Router DOM  ·  État global Redux  ·  Requêtes Axios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874519"/>
            <a:ext cx="2834640" cy="4663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874519"/>
            <a:ext cx="2834640" cy="73152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74320" y="1874519"/>
            <a:ext cx="2834640" cy="685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194767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2BF"/>
                </a:solidFill>
              </a:rPr>
              <a:t>Authentification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2651760"/>
            <a:ext cx="2606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Page Login / Register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Validation côté client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Redirection selon le rôle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Gestion des erreurs affichée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Persistance token localStorage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36976" y="1874519"/>
            <a:ext cx="2834640" cy="4663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36976" y="1874519"/>
            <a:ext cx="2834640" cy="7315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36976" y="1874519"/>
            <a:ext cx="2834640" cy="685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77056" y="194767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B59B6"/>
                </a:solidFill>
              </a:rPr>
              <a:t>Dashboard Patient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4136" y="2651760"/>
            <a:ext cx="2606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Profil modifiable en ligne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Catalogue des services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Prise de RDV intuitive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Suivi des statuts RDV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Annulation en un clic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1874519"/>
            <a:ext cx="2834640" cy="4663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99632" y="1874519"/>
            <a:ext cx="2834640" cy="73152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199632" y="1874519"/>
            <a:ext cx="2834640" cy="685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39712" y="194767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C623"/>
                </a:solidFill>
              </a:rPr>
              <a:t>Dashboard Médecin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2651760"/>
            <a:ext cx="2606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Gestion services (CRUD)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Création de créneaux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Vue calendrier FullCalendar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Liste de tous les RDV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Création compte secrétaire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62288" y="1874519"/>
            <a:ext cx="2834640" cy="4663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162288" y="1874519"/>
            <a:ext cx="2834640" cy="73152"/>
          </a:xfrm>
          <a:prstGeom prst="rect">
            <a:avLst/>
          </a:prstGeom>
          <a:solidFill>
            <a:srgbClr val="FF63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162288" y="1874519"/>
            <a:ext cx="2834640" cy="685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802368" y="194767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384"/>
                </a:solidFill>
              </a:rPr>
              <a:t>Dashboard Secrétaire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99448" y="2651760"/>
            <a:ext cx="2606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Liste de tous les patients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Tous les RDV centralisés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Confirmation des RDV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Annulation / Suppression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E0E0FF"/>
                </a:solidFill>
              </a:rPr>
              <a:t>›  Gestion administrative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Conclusion &amp; Perspectives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Ce que ce stage m'a apporté — et ce qui reste à faire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88720"/>
            <a:ext cx="1828800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76272" y="1188720"/>
            <a:ext cx="54864" cy="54864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6675120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C0"/>
                </a:solidFill>
              </a:rPr>
              <a:t>RendezVous App  |  Projet de Stage  |  2025-2026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548640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5486400" cy="73152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1463040"/>
            <a:ext cx="5486400" cy="5943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1536192"/>
            <a:ext cx="5212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0E576"/>
                </a:solidFill>
              </a:rPr>
              <a:t>  Bilan du Stage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1488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dirty="0">
                <a:solidFill>
                  <a:srgbClr val="E0E0FF"/>
                </a:solidFill>
              </a:rPr>
              <a:t>✔  Application web full-stack </a:t>
            </a:r>
            <a:r>
              <a:rPr sz="1250" dirty="0" err="1">
                <a:solidFill>
                  <a:srgbClr val="E0E0FF"/>
                </a:solidFill>
              </a:rPr>
              <a:t>fonctionnelle</a:t>
            </a:r>
            <a:r>
              <a:rPr sz="1250" dirty="0">
                <a:solidFill>
                  <a:srgbClr val="E0E0FF"/>
                </a:solidFill>
              </a:rPr>
              <a:t> de A à Z</a:t>
            </a:r>
          </a:p>
          <a:p>
            <a:pPr>
              <a:spcBef>
                <a:spcPts val="800"/>
              </a:spcBef>
            </a:pPr>
            <a:r>
              <a:rPr sz="1250" dirty="0">
                <a:solidFill>
                  <a:srgbClr val="E0E0FF"/>
                </a:solidFill>
              </a:rPr>
              <a:t>✔  Système multi-</a:t>
            </a:r>
            <a:r>
              <a:rPr sz="1250" dirty="0" err="1">
                <a:solidFill>
                  <a:srgbClr val="E0E0FF"/>
                </a:solidFill>
              </a:rPr>
              <a:t>rôle</a:t>
            </a:r>
            <a:r>
              <a:rPr sz="1250" dirty="0">
                <a:solidFill>
                  <a:srgbClr val="E0E0FF"/>
                </a:solidFill>
              </a:rPr>
              <a:t> </a:t>
            </a:r>
            <a:r>
              <a:rPr sz="1250" dirty="0" err="1">
                <a:solidFill>
                  <a:srgbClr val="E0E0FF"/>
                </a:solidFill>
              </a:rPr>
              <a:t>complet</a:t>
            </a:r>
            <a:r>
              <a:rPr sz="1250" dirty="0">
                <a:solidFill>
                  <a:srgbClr val="E0E0FF"/>
                </a:solidFill>
              </a:rPr>
              <a:t> et </a:t>
            </a:r>
            <a:r>
              <a:rPr sz="1250" dirty="0" err="1">
                <a:solidFill>
                  <a:srgbClr val="E0E0FF"/>
                </a:solidFill>
              </a:rPr>
              <a:t>sécurisé</a:t>
            </a:r>
            <a:endParaRPr sz="1250" dirty="0">
              <a:solidFill>
                <a:srgbClr val="E0E0FF"/>
              </a:solidFill>
            </a:endParaRPr>
          </a:p>
          <a:p>
            <a:pPr>
              <a:spcBef>
                <a:spcPts val="800"/>
              </a:spcBef>
            </a:pPr>
            <a:r>
              <a:rPr sz="1250" dirty="0">
                <a:solidFill>
                  <a:srgbClr val="E0E0FF"/>
                </a:solidFill>
              </a:rPr>
              <a:t>✔  API RESTful avec 50+ endpoints </a:t>
            </a:r>
            <a:r>
              <a:rPr sz="1250" dirty="0" err="1">
                <a:solidFill>
                  <a:srgbClr val="E0E0FF"/>
                </a:solidFill>
              </a:rPr>
              <a:t>documentés</a:t>
            </a:r>
            <a:endParaRPr sz="1250" dirty="0">
              <a:solidFill>
                <a:srgbClr val="E0E0FF"/>
              </a:solidFill>
            </a:endParaRPr>
          </a:p>
          <a:p>
            <a:pPr>
              <a:spcBef>
                <a:spcPts val="800"/>
              </a:spcBef>
            </a:pPr>
            <a:r>
              <a:rPr sz="1250" dirty="0">
                <a:solidFill>
                  <a:srgbClr val="E0E0FF"/>
                </a:solidFill>
              </a:rPr>
              <a:t>✔  Interface React </a:t>
            </a:r>
            <a:r>
              <a:rPr sz="1250" dirty="0" err="1">
                <a:solidFill>
                  <a:srgbClr val="E0E0FF"/>
                </a:solidFill>
              </a:rPr>
              <a:t>moderne</a:t>
            </a:r>
            <a:r>
              <a:rPr sz="1250" dirty="0">
                <a:solidFill>
                  <a:srgbClr val="E0E0FF"/>
                </a:solidFill>
              </a:rPr>
              <a:t> et </a:t>
            </a:r>
            <a:r>
              <a:rPr sz="1250" dirty="0" err="1">
                <a:solidFill>
                  <a:srgbClr val="E0E0FF"/>
                </a:solidFill>
              </a:rPr>
              <a:t>réactive</a:t>
            </a:r>
            <a:endParaRPr sz="1250" dirty="0">
              <a:solidFill>
                <a:srgbClr val="E0E0FF"/>
              </a:solidFill>
            </a:endParaRPr>
          </a:p>
          <a:p>
            <a:pPr>
              <a:spcBef>
                <a:spcPts val="800"/>
              </a:spcBef>
            </a:pPr>
            <a:r>
              <a:rPr sz="1250" dirty="0">
                <a:solidFill>
                  <a:srgbClr val="E0E0FF"/>
                </a:solidFill>
              </a:rPr>
              <a:t>✔  </a:t>
            </a:r>
            <a:r>
              <a:rPr sz="1250" dirty="0" err="1">
                <a:solidFill>
                  <a:srgbClr val="E0E0FF"/>
                </a:solidFill>
              </a:rPr>
              <a:t>Authentification</a:t>
            </a:r>
            <a:r>
              <a:rPr sz="1250" dirty="0">
                <a:solidFill>
                  <a:srgbClr val="E0E0FF"/>
                </a:solidFill>
              </a:rPr>
              <a:t> </a:t>
            </a:r>
            <a:r>
              <a:rPr sz="1250" dirty="0" err="1">
                <a:solidFill>
                  <a:srgbClr val="E0E0FF"/>
                </a:solidFill>
              </a:rPr>
              <a:t>robuste</a:t>
            </a:r>
            <a:r>
              <a:rPr sz="1250" dirty="0">
                <a:solidFill>
                  <a:srgbClr val="E0E0FF"/>
                </a:solidFill>
              </a:rPr>
              <a:t> (Sanctum + </a:t>
            </a:r>
            <a:r>
              <a:rPr sz="1250" dirty="0" err="1">
                <a:solidFill>
                  <a:srgbClr val="E0E0FF"/>
                </a:solidFill>
              </a:rPr>
              <a:t>bcrypt</a:t>
            </a:r>
            <a:r>
              <a:rPr sz="1250" dirty="0">
                <a:solidFill>
                  <a:srgbClr val="E0E0FF"/>
                </a:solidFill>
              </a:rPr>
              <a:t>)</a:t>
            </a:r>
          </a:p>
          <a:p>
            <a:pPr>
              <a:spcBef>
                <a:spcPts val="800"/>
              </a:spcBef>
            </a:pPr>
            <a:r>
              <a:rPr sz="1250" dirty="0">
                <a:solidFill>
                  <a:srgbClr val="E0E0FF"/>
                </a:solidFill>
              </a:rPr>
              <a:t>✔  </a:t>
            </a:r>
            <a:r>
              <a:rPr sz="1250" dirty="0" err="1">
                <a:solidFill>
                  <a:srgbClr val="E0E0FF"/>
                </a:solidFill>
              </a:rPr>
              <a:t>Calendrier</a:t>
            </a:r>
            <a:r>
              <a:rPr sz="1250" dirty="0">
                <a:solidFill>
                  <a:srgbClr val="E0E0FF"/>
                </a:solidFill>
              </a:rPr>
              <a:t> </a:t>
            </a:r>
            <a:r>
              <a:rPr sz="1250" dirty="0" err="1">
                <a:solidFill>
                  <a:srgbClr val="E0E0FF"/>
                </a:solidFill>
              </a:rPr>
              <a:t>médical</a:t>
            </a:r>
            <a:r>
              <a:rPr sz="1250" dirty="0">
                <a:solidFill>
                  <a:srgbClr val="E0E0FF"/>
                </a:solidFill>
              </a:rPr>
              <a:t> </a:t>
            </a:r>
            <a:r>
              <a:rPr sz="1250" dirty="0" err="1">
                <a:solidFill>
                  <a:srgbClr val="E0E0FF"/>
                </a:solidFill>
              </a:rPr>
              <a:t>interactif</a:t>
            </a:r>
            <a:r>
              <a:rPr sz="1250" dirty="0">
                <a:solidFill>
                  <a:srgbClr val="E0E0FF"/>
                </a:solidFill>
              </a:rPr>
              <a:t> (</a:t>
            </a:r>
            <a:r>
              <a:rPr sz="1250" dirty="0" err="1">
                <a:solidFill>
                  <a:srgbClr val="E0E0FF"/>
                </a:solidFill>
              </a:rPr>
              <a:t>FullCalendar</a:t>
            </a:r>
            <a:r>
              <a:rPr sz="1250" dirty="0">
                <a:solidFill>
                  <a:srgbClr val="E0E0FF"/>
                </a:solidFill>
              </a:rPr>
              <a:t>)</a:t>
            </a:r>
          </a:p>
          <a:p>
            <a:pPr>
              <a:spcBef>
                <a:spcPts val="800"/>
              </a:spcBef>
            </a:pPr>
            <a:r>
              <a:rPr sz="1250" dirty="0">
                <a:solidFill>
                  <a:srgbClr val="E0E0FF"/>
                </a:solidFill>
              </a:rPr>
              <a:t>✔  </a:t>
            </a:r>
            <a:r>
              <a:rPr sz="1250" dirty="0" err="1">
                <a:solidFill>
                  <a:srgbClr val="E0E0FF"/>
                </a:solidFill>
              </a:rPr>
              <a:t>Maîtrise</a:t>
            </a:r>
            <a:r>
              <a:rPr sz="1250" dirty="0">
                <a:solidFill>
                  <a:srgbClr val="E0E0FF"/>
                </a:solidFill>
              </a:rPr>
              <a:t> : React, Redux, Laravel, </a:t>
            </a:r>
            <a:r>
              <a:rPr sz="1250" dirty="0" err="1">
                <a:solidFill>
                  <a:srgbClr val="E0E0FF"/>
                </a:solidFill>
              </a:rPr>
              <a:t>TailwindCSS</a:t>
            </a:r>
            <a:endParaRPr sz="1250" dirty="0">
              <a:solidFill>
                <a:srgbClr val="E0E0FF"/>
              </a:solidFill>
            </a:endParaRPr>
          </a:p>
          <a:p>
            <a:pPr>
              <a:spcBef>
                <a:spcPts val="800"/>
              </a:spcBef>
            </a:pPr>
            <a:r>
              <a:rPr sz="1250" dirty="0">
                <a:solidFill>
                  <a:srgbClr val="E0E0FF"/>
                </a:solidFill>
              </a:rPr>
              <a:t>✔  Architecture Client-</a:t>
            </a:r>
            <a:r>
              <a:rPr sz="1250" dirty="0" err="1">
                <a:solidFill>
                  <a:srgbClr val="E0E0FF"/>
                </a:solidFill>
              </a:rPr>
              <a:t>Serveur</a:t>
            </a:r>
            <a:r>
              <a:rPr sz="1250" dirty="0">
                <a:solidFill>
                  <a:srgbClr val="E0E0FF"/>
                </a:solidFill>
              </a:rPr>
              <a:t> </a:t>
            </a:r>
            <a:r>
              <a:rPr sz="1250" dirty="0" err="1">
                <a:solidFill>
                  <a:srgbClr val="E0E0FF"/>
                </a:solidFill>
              </a:rPr>
              <a:t>professionnelle</a:t>
            </a:r>
            <a:endParaRPr sz="1250" dirty="0">
              <a:solidFill>
                <a:srgbClr val="E0E0FF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9360" y="1463040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09360" y="1463040"/>
            <a:ext cx="5577840" cy="73152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1463040"/>
            <a:ext cx="5577840" cy="5943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1536192"/>
            <a:ext cx="5303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BB86FC"/>
                </a:solidFill>
              </a:rPr>
              <a:t> </a:t>
            </a:r>
            <a:r>
              <a:rPr sz="1400" b="1" i="0" dirty="0">
                <a:solidFill>
                  <a:srgbClr val="BB86FC"/>
                </a:solidFill>
              </a:rPr>
              <a:t>Perspectives </a:t>
            </a:r>
            <a:r>
              <a:rPr sz="1400" b="1" i="0" dirty="0" err="1">
                <a:solidFill>
                  <a:srgbClr val="BB86FC"/>
                </a:solidFill>
              </a:rPr>
              <a:t>d'Évolution</a:t>
            </a:r>
            <a:endParaRPr sz="1400" b="1" i="0" dirty="0">
              <a:solidFill>
                <a:srgbClr val="BB86FC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46520" y="214884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>
                <a:solidFill>
                  <a:srgbClr val="E0E0FF"/>
                </a:solidFill>
              </a:rPr>
              <a:t>→  Notifications email / SMS automatiques</a:t>
            </a:r>
          </a:p>
          <a:p>
            <a:pPr>
              <a:spcBef>
                <a:spcPts val="800"/>
              </a:spcBef>
            </a:pPr>
            <a:r>
              <a:rPr sz="1250">
                <a:solidFill>
                  <a:srgbClr val="E0E0FF"/>
                </a:solidFill>
              </a:rPr>
              <a:t>→  Application mobile (React Native / Flutter)</a:t>
            </a:r>
          </a:p>
          <a:p>
            <a:pPr>
              <a:spcBef>
                <a:spcPts val="800"/>
              </a:spcBef>
            </a:pPr>
            <a:r>
              <a:rPr sz="1250">
                <a:solidFill>
                  <a:srgbClr val="E0E0FF"/>
                </a:solidFill>
              </a:rPr>
              <a:t>→  Paiement en ligne des consultations</a:t>
            </a:r>
          </a:p>
          <a:p>
            <a:pPr>
              <a:spcBef>
                <a:spcPts val="800"/>
              </a:spcBef>
            </a:pPr>
            <a:r>
              <a:rPr sz="1250">
                <a:solidFill>
                  <a:srgbClr val="E0E0FF"/>
                </a:solidFill>
              </a:rPr>
              <a:t>→  Dossier médical patient numérique</a:t>
            </a:r>
          </a:p>
          <a:p>
            <a:pPr>
              <a:spcBef>
                <a:spcPts val="800"/>
              </a:spcBef>
            </a:pPr>
            <a:r>
              <a:rPr sz="1250">
                <a:solidFill>
                  <a:srgbClr val="E0E0FF"/>
                </a:solidFill>
              </a:rPr>
              <a:t>→  Tableau de bord analytique &amp; statistiques</a:t>
            </a:r>
          </a:p>
          <a:p>
            <a:pPr>
              <a:spcBef>
                <a:spcPts val="800"/>
              </a:spcBef>
            </a:pPr>
            <a:r>
              <a:rPr sz="1250">
                <a:solidFill>
                  <a:srgbClr val="E0E0FF"/>
                </a:solidFill>
              </a:rPr>
              <a:t>→  Géolocalisation des cabinets médicaux</a:t>
            </a:r>
          </a:p>
          <a:p>
            <a:pPr>
              <a:spcBef>
                <a:spcPts val="800"/>
              </a:spcBef>
            </a:pPr>
            <a:r>
              <a:rPr sz="1250">
                <a:solidFill>
                  <a:srgbClr val="E0E0FF"/>
                </a:solidFill>
              </a:rPr>
              <a:t>→  Intégration systèmes hospitaliers (HL7)</a:t>
            </a:r>
          </a:p>
          <a:p>
            <a:pPr>
              <a:spcBef>
                <a:spcPts val="800"/>
              </a:spcBef>
            </a:pPr>
            <a:r>
              <a:rPr sz="1250">
                <a:solidFill>
                  <a:srgbClr val="E0E0FF"/>
                </a:solidFill>
              </a:rPr>
              <a:t>→  Déploiement cloud (AWS / VPS)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54000" y="0"/>
            <a:ext cx="12188952" cy="6858000"/>
          </a:xfrm>
          <a:prstGeom prst="rect">
            <a:avLst/>
          </a:prstGeom>
          <a:solidFill>
            <a:srgbClr val="0F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3200400" cy="3200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00" y="0"/>
            <a:ext cx="3200400" cy="3200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0" y="5029200"/>
            <a:ext cx="1828800" cy="1828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3716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Merci pour votre attention !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2697480"/>
            <a:ext cx="2468880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715000" y="2697480"/>
            <a:ext cx="64008" cy="64008"/>
          </a:xfrm>
          <a:prstGeom prst="rect">
            <a:avLst/>
          </a:prstGeom>
          <a:solidFill>
            <a:srgbClr val="F3C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806440" y="2697480"/>
            <a:ext cx="3200400" cy="64008"/>
          </a:xfrm>
          <a:prstGeom prst="rect">
            <a:avLst/>
          </a:prstGeom>
          <a:solidFill>
            <a:srgbClr val="00D2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8803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BB86FC"/>
                </a:solidFill>
              </a:rPr>
              <a:t>Questions &amp; Discussion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3749039"/>
            <a:ext cx="7589520" cy="16459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286000" y="3749039"/>
            <a:ext cx="7589520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377440" y="384048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A0A0C0"/>
                </a:solidFill>
              </a:rPr>
              <a:t>RendezVous App  —  Système de Gestion des RDV Médicaux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34340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D2BF"/>
                </a:solidFill>
              </a:rPr>
              <a:t>React  ·  Laravel 12  ·  Redux  ·  TailwindCSS  ·  Sanctum  ·  FullCalendar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846320"/>
            <a:ext cx="74066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F3C623"/>
                </a:solidFill>
              </a:rPr>
              <a:t>Milad </a:t>
            </a:r>
            <a:r>
              <a:rPr lang="en-US" sz="1200" b="0" i="0" dirty="0">
                <a:solidFill>
                  <a:srgbClr val="F3C623"/>
                </a:solidFill>
              </a:rPr>
              <a:t>Dlou</a:t>
            </a:r>
            <a:r>
              <a:rPr sz="1200" b="0" i="0" dirty="0">
                <a:solidFill>
                  <a:srgbClr val="F3C623"/>
                </a:solidFill>
              </a:rPr>
              <a:t>   </a:t>
            </a:r>
            <a:r>
              <a:rPr lang="en-US" sz="1200" dirty="0">
                <a:solidFill>
                  <a:srgbClr val="F3C623"/>
                </a:solidFill>
              </a:rPr>
              <a:t>Miladdlou45</a:t>
            </a:r>
            <a:r>
              <a:rPr sz="1200" b="0" i="0" dirty="0">
                <a:solidFill>
                  <a:srgbClr val="F3C623"/>
                </a:solidFill>
              </a:rPr>
              <a:t>@gmail.com   |   2025-2026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1372</Words>
  <Application>Microsoft Office PowerPoint</Application>
  <PresentationFormat>Custom</PresentationFormat>
  <Paragraphs>268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Milad El Dlou (VNSLI-Y)</cp:lastModifiedBy>
  <cp:revision>5</cp:revision>
  <dcterms:created xsi:type="dcterms:W3CDTF">2013-01-27T09:14:16Z</dcterms:created>
  <dcterms:modified xsi:type="dcterms:W3CDTF">2026-06-01T09:27:18Z</dcterms:modified>
  <cp:category/>
</cp:coreProperties>
</file>